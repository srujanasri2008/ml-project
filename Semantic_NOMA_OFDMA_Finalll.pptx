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B7CA39-BF45-4E77-87D8-4A10D2B8C4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9F57CA-E363-4439-80C2-617DCD35DA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305F37-5682-40A0-8BE5-250D6BA72D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76D003-847B-449A-8183-3132CFBC26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87992-9451-47B1-93F0-93278D39DE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3DD67-D68E-4C9C-9A21-7324EB3ED2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564AE-58EA-490F-87AD-047D78871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F19C0B-00CB-487E-A137-69E0A786D6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D9F29B-7F05-414A-BB32-FF2B1D7078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66896C-7BE2-461E-AB06-6F7117ADB7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B3D010-CDF4-45CF-8BDE-02044EFE04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2A2276-B6D4-4487-9898-06AEDC13FD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9B1F7-63A9-4CEC-BEB8-9FE9591476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331EC-55D1-4900-A68A-6CA5DC9FFF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CD6C79-5C78-490D-BD05-A7E62253CD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B8AD7-6DFF-4C99-B192-61FCC62CA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463ACA-39BE-459B-B785-8A6F652F6A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394056-29DF-407D-8B32-BF61AC11CA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49AEA-D12C-4946-9409-4D8EC74A51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8C42A-CA4F-49BE-A19B-2A8B8B7E8D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E4707-D322-43C2-B80E-FF8D5B0C17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B756D5-3612-40E8-8B3B-19C90CA89C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CF531D-5215-4674-AF03-32D360A3A0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13160" y="411480"/>
            <a:ext cx="7223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FINAL PROJECT PRESENTATION  |  2026–27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13160" y="1115640"/>
            <a:ext cx="67662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Soft Actor-Critic-Based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Semantic-Aware Power and Time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Allocation for Hybrid NOMA–OFDMA Networks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31520" y="3246120"/>
            <a:ext cx="987480" cy="360"/>
          </a:xfrm>
          <a:prstGeom prst="line">
            <a:avLst/>
          </a:prstGeom>
          <a:ln w="2794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345636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Machine Learning  •  Wireless Resource Allocation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4069080"/>
            <a:ext cx="60346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B. Sri. Srujana   |   2520040005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S. Tejitha        |   2520040008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M. Gnaneshwari    |   2520040020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31520" y="525780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Guide: </a:t>
            </a:r>
            <a:r>
              <a:rPr lang="en-US" sz="1220" dirty="0">
                <a:solidFill>
                  <a:srgbClr val="5F6368"/>
                </a:solidFill>
                <a:latin typeface="Arial"/>
                <a:ea typeface="Arial"/>
              </a:rPr>
              <a:t>N.L. Prasad</a:t>
            </a:r>
            <a:r>
              <a:rPr lang="en-US" sz="1220" b="0" u="none" strike="noStrike" dirty="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  •  Department of ECE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1520" y="5596200"/>
            <a:ext cx="6857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Koneru Lakshmaiah Education Foundation (KLEF)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955280" y="84132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60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HYBRID WIRELESS 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973640" y="1325880"/>
            <a:ext cx="3520080" cy="1298160"/>
          </a:xfrm>
          <a:prstGeom prst="roundRect">
            <a:avLst>
              <a:gd name="adj" fmla="val 7042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174880" y="1472040"/>
            <a:ext cx="3117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OFDMA SUBCHANNEL 1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8174880" y="180144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NOMA Pair 1 and Pair 2 share airtime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973640" y="2853000"/>
            <a:ext cx="3520080" cy="1298160"/>
          </a:xfrm>
          <a:prstGeom prst="roundRect">
            <a:avLst>
              <a:gd name="adj" fmla="val 7042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8174880" y="2999160"/>
            <a:ext cx="3117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OFDMA SUBCHANNEL 2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174880" y="3328560"/>
            <a:ext cx="31176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NOMA Pair 3 and Pair 4 share airtime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275320" y="4645080"/>
            <a:ext cx="585000" cy="585000"/>
          </a:xfrm>
          <a:prstGeom prst="ellipse">
            <a:avLst/>
          </a:prstGeom>
          <a:solidFill>
            <a:srgbClr val="225E68"/>
          </a:solidFill>
          <a:ln w="1270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75320" y="4809600"/>
            <a:ext cx="5850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 flipV="1">
            <a:off x="8860320" y="4654080"/>
            <a:ext cx="448200" cy="28368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217080" y="450792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9034200" y="47181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860320" y="4937760"/>
            <a:ext cx="448200" cy="44784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217080" y="523944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9034200" y="54496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 flipV="1">
            <a:off x="8860320" y="4654080"/>
            <a:ext cx="1124640" cy="28368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9893880" y="4507920"/>
            <a:ext cx="182520" cy="182520"/>
          </a:xfrm>
          <a:prstGeom prst="ellipse">
            <a:avLst/>
          </a:prstGeom>
          <a:solidFill>
            <a:srgbClr val="4F6970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711000" y="47181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8860320" y="4937760"/>
            <a:ext cx="1124640" cy="44784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9893880" y="5239440"/>
            <a:ext cx="182520" cy="182520"/>
          </a:xfrm>
          <a:prstGeom prst="ellipse">
            <a:avLst/>
          </a:prstGeom>
          <a:solidFill>
            <a:srgbClr val="4F6970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9711000" y="54496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U4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 flipV="1">
            <a:off x="8860320" y="4654080"/>
            <a:ext cx="1801440" cy="28368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0570320" y="4507920"/>
            <a:ext cx="182520" cy="182520"/>
          </a:xfrm>
          <a:prstGeom prst="ellipse">
            <a:avLst/>
          </a:prstGeom>
          <a:solidFill>
            <a:srgbClr val="70777C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10387440" y="47181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8860320" y="4937760"/>
            <a:ext cx="1801440" cy="44784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10570320" y="5239440"/>
            <a:ext cx="182520" cy="182520"/>
          </a:xfrm>
          <a:prstGeom prst="ellipse">
            <a:avLst/>
          </a:prstGeom>
          <a:solidFill>
            <a:srgbClr val="70777C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10387440" y="54496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U6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 flipV="1">
            <a:off x="8860320" y="4654080"/>
            <a:ext cx="2478240" cy="28368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1247120" y="4507920"/>
            <a:ext cx="182520" cy="182520"/>
          </a:xfrm>
          <a:prstGeom prst="ellipse">
            <a:avLst/>
          </a:prstGeom>
          <a:solidFill>
            <a:srgbClr val="70777C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11064240" y="47181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U7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8860320" y="4937760"/>
            <a:ext cx="2478240" cy="447840"/>
          </a:xfrm>
          <a:prstGeom prst="line">
            <a:avLst/>
          </a:prstGeom>
          <a:ln w="9525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1247120" y="5239440"/>
            <a:ext cx="182520" cy="182520"/>
          </a:xfrm>
          <a:prstGeom prst="ellipse">
            <a:avLst/>
          </a:prstGeom>
          <a:solidFill>
            <a:srgbClr val="70777C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1064240" y="54496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818120" y="5989320"/>
            <a:ext cx="3794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8 simulated users  •  4 fixed NOMA pairs  •  2 OFDMA subchannels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01 • INTRODUCTION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The challenge: deliver useful tasks without wasting power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Power and airtime are limited, while users have different channels, demands, deadlines and task priorities.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713160" y="1874520"/>
            <a:ext cx="3428640" cy="1325520"/>
          </a:xfrm>
          <a:prstGeom prst="roundRect">
            <a:avLst>
              <a:gd name="adj" fmla="val 689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914400" y="2020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CHANNEL QUALITY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914400" y="240480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Fading and path loss make users experience different achievable rates.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4389120" y="1874520"/>
            <a:ext cx="3428640" cy="1325520"/>
          </a:xfrm>
          <a:prstGeom prst="roundRect">
            <a:avLst>
              <a:gd name="adj" fmla="val 689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590360" y="2020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TASK URGENCY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590360" y="240480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A task with a short deadline or higher importance can be more valuable to serve now.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8065080" y="1874520"/>
            <a:ext cx="3428640" cy="1325520"/>
          </a:xfrm>
          <a:prstGeom prst="roundRect">
            <a:avLst>
              <a:gd name="adj" fmla="val 689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8266320" y="2020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ENERGY BUDGET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266320" y="240480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Using maximum power continuously can increase goodput, but also energy consumption.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758880" y="37216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Resource allocation must balance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777240" y="4224600"/>
            <a:ext cx="1508400" cy="365400"/>
          </a:xfrm>
          <a:prstGeom prst="roundRect">
            <a:avLst>
              <a:gd name="adj" fmla="val 30000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850320" y="4242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TASK VALUE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2450520" y="423360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priority-weighted useful service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4453200" y="4224600"/>
            <a:ext cx="1508400" cy="365400"/>
          </a:xfrm>
          <a:prstGeom prst="roundRect">
            <a:avLst>
              <a:gd name="adj" fmla="val 30000"/>
            </a:avLst>
          </a:prstGeom>
          <a:solidFill>
            <a:srgbClr val="F3EFE8"/>
          </a:solidFill>
          <a:ln w="8890">
            <a:solidFill>
              <a:srgbClr val="B69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4526280" y="4242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8C5E21"/>
                </a:solidFill>
                <a:effectLst/>
                <a:uFillTx/>
                <a:latin typeface="Arial"/>
                <a:ea typeface="Arial"/>
              </a:rPr>
              <a:t>DEADLINES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6126480" y="423360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complete tasks before expiry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8129160" y="4224600"/>
            <a:ext cx="1508400" cy="365400"/>
          </a:xfrm>
          <a:prstGeom prst="roundRect">
            <a:avLst>
              <a:gd name="adj" fmla="val 30000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8202240" y="4242960"/>
            <a:ext cx="1362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ENERGY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9802440" y="4233600"/>
            <a:ext cx="18284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reduce joules per useful bit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777240" y="550476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This project evaluates the trade-off in a controlled, reproducible simulation—not on a live 5G network.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02 • OBJECTIVES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What the project implements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A simulation-first study of continuous resource control with SAC and feasible baseline policies.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882540" y="1860840"/>
            <a:ext cx="5211720" cy="1023840"/>
          </a:xfrm>
          <a:prstGeom prst="roundRect">
            <a:avLst>
              <a:gd name="adj" fmla="val 892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1303380" y="1947600"/>
            <a:ext cx="4809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MODEL THE NETWORK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932760" y="2295000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Build a hybrid NOMA–OFDMA environment with 8 users, 4 fixed pairs and 2 subchannels.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914400" y="19933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6236280" y="1847160"/>
            <a:ext cx="5211720" cy="1023840"/>
          </a:xfrm>
          <a:prstGeom prst="roundRect">
            <a:avLst>
              <a:gd name="adj" fmla="val 892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6821640" y="1956600"/>
            <a:ext cx="4809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MODEL TASK VALUE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437520" y="2295000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Represent demand, task deadline and importance using a configurable synthetic task model.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419160" y="19933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882540" y="3099600"/>
            <a:ext cx="5211720" cy="1023840"/>
          </a:xfrm>
          <a:prstGeom prst="roundRect">
            <a:avLst>
              <a:gd name="adj" fmla="val 892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1219050" y="3181086"/>
            <a:ext cx="4809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LEARN RESOURCE CONTROL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932760" y="3547800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Train SAC to jointly choose pair power, NOMA power split and airtime preference.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914400" y="32461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6236280" y="3099960"/>
            <a:ext cx="5211720" cy="1023840"/>
          </a:xfrm>
          <a:prstGeom prst="roundRect">
            <a:avLst>
              <a:gd name="adj" fmla="val 892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6780780" y="3200400"/>
            <a:ext cx="4809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ENFORCE FEASIBILITY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6437520" y="3547800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Transform continuous actions so configured power and airtime constraints are respected.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6419160" y="32461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731520" y="4352400"/>
            <a:ext cx="10725480" cy="1023840"/>
          </a:xfrm>
          <a:prstGeom prst="roundRect">
            <a:avLst>
              <a:gd name="adj" fmla="val 8929"/>
            </a:avLst>
          </a:prstGeom>
          <a:solidFill>
            <a:srgbClr val="E8F0F1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1243440" y="4461840"/>
            <a:ext cx="10323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EVALUATE HONESTLY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932760" y="4800600"/>
            <a:ext cx="103233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Compare against equal, semantic-priority and random feasible allocation on held-out seeds.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914400" y="44989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03 • SYSTEM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Hybrid NOMA–OFDMA scenario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OFDMA separates the two frequency subchannels; two candidate NOMA pairs time-share each subchannel.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749880" y="1847160"/>
            <a:ext cx="5193360" cy="3108600"/>
          </a:xfrm>
          <a:prstGeom prst="roundRect">
            <a:avLst>
              <a:gd name="adj" fmla="val 2941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951120" y="1993320"/>
            <a:ext cx="4791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SUBCHANNEL 1  •  180 kHz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1051560" y="2606040"/>
            <a:ext cx="2084400" cy="1307160"/>
          </a:xfrm>
          <a:prstGeom prst="roundRect">
            <a:avLst>
              <a:gd name="adj" fmla="val 6993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252800" y="275220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 1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1252800" y="3108960"/>
            <a:ext cx="16822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Users 1 and 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Simultaneous power-domain NOMA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3547800" y="2606040"/>
            <a:ext cx="2084400" cy="1307160"/>
          </a:xfrm>
          <a:prstGeom prst="roundRect">
            <a:avLst>
              <a:gd name="adj" fmla="val 6993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749040" y="275220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 2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3749040" y="3108960"/>
            <a:ext cx="16822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Users 3 and 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Simultaneous power-domain NOMA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3145320" y="3264120"/>
            <a:ext cx="384120" cy="360"/>
          </a:xfrm>
          <a:prstGeom prst="line">
            <a:avLst/>
          </a:prstGeom>
          <a:ln w="19050">
            <a:solidFill>
              <a:srgbClr val="225E6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1188720" y="42246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Airtime fractions τ₁ + τ₂ ≤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6217920" y="1847160"/>
            <a:ext cx="5193360" cy="3108600"/>
          </a:xfrm>
          <a:prstGeom prst="roundRect">
            <a:avLst>
              <a:gd name="adj" fmla="val 2941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419160" y="1993320"/>
            <a:ext cx="4791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SUBCHANNEL 2  •  180 kHz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6519600" y="2606040"/>
            <a:ext cx="2084400" cy="1307160"/>
          </a:xfrm>
          <a:prstGeom prst="roundRect">
            <a:avLst>
              <a:gd name="adj" fmla="val 6993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6720840" y="275220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 3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6720840" y="3108960"/>
            <a:ext cx="16822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Users 5 and 6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Simultaneous power-domain NOMA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9015840" y="2606040"/>
            <a:ext cx="2084400" cy="1307160"/>
          </a:xfrm>
          <a:prstGeom prst="roundRect">
            <a:avLst>
              <a:gd name="adj" fmla="val 6993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9217080" y="275220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 4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9217080" y="3108960"/>
            <a:ext cx="16822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Users 7 and 8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Simultaneous power-domain NOMA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8613360" y="3264120"/>
            <a:ext cx="384120" cy="360"/>
          </a:xfrm>
          <a:prstGeom prst="line">
            <a:avLst/>
          </a:prstGeom>
          <a:ln w="19050">
            <a:solidFill>
              <a:srgbClr val="225E6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6656760" y="42246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Airtime fractions τ₃ + τ₄ ≤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896040" y="5276160"/>
            <a:ext cx="223992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969120" y="5294520"/>
            <a:ext cx="2093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8 users • 4 NOMA pairs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3383280" y="5276160"/>
            <a:ext cx="223992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3456360" y="5294520"/>
            <a:ext cx="20937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Pmax = 1.0 W total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0"/>
          <p:cNvSpPr/>
          <p:nvPr/>
        </p:nvSpPr>
        <p:spPr>
          <a:xfrm>
            <a:off x="5888880" y="5276160"/>
            <a:ext cx="228564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5961960" y="5294520"/>
            <a:ext cx="21394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0.5 W subchannel budget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2"/>
          <p:cNvSpPr/>
          <p:nvPr/>
        </p:nvSpPr>
        <p:spPr>
          <a:xfrm>
            <a:off x="8458200" y="5276160"/>
            <a:ext cx="258732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3"/>
          <p:cNvSpPr/>
          <p:nvPr/>
        </p:nvSpPr>
        <p:spPr>
          <a:xfrm>
            <a:off x="8531280" y="5294520"/>
            <a:ext cx="244116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50 frames × 10 ms = 0.5 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04 • APPROACH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How the proposed policy is evaluated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experiments compare SAC with three simple, reproducible control strategies under the same simulator.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731520" y="1874520"/>
            <a:ext cx="2578320" cy="1855800"/>
          </a:xfrm>
          <a:prstGeom prst="roundRect">
            <a:avLst>
              <a:gd name="adj" fmla="val 4926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932760" y="2020680"/>
            <a:ext cx="2175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EQUAL ALLOCATION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932760" y="2423160"/>
            <a:ext cx="21758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Equal airtime between candidate pairs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Fixed weak/strong split β = 0.75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Full configured per-subchannel power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3456360" y="1874520"/>
            <a:ext cx="2578320" cy="1855800"/>
          </a:xfrm>
          <a:prstGeom prst="roundRect">
            <a:avLst>
              <a:gd name="adj" fmla="val 4926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3657600" y="2020680"/>
            <a:ext cx="2175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SEMANTIC PRIORITY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3657600" y="2423160"/>
            <a:ext cx="21758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Heuristic pair ranking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Uses task importance and urgency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No learned long-horizon policy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6181200" y="1874520"/>
            <a:ext cx="2578320" cy="1855800"/>
          </a:xfrm>
          <a:prstGeom prst="roundRect">
            <a:avLst>
              <a:gd name="adj" fmla="val 4926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6382440" y="2020680"/>
            <a:ext cx="2175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RANDOM FEASIBLE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6382440" y="2423160"/>
            <a:ext cx="21758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Random continuous allocation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Actions mapped to feasible ranges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Reference for uncoordinated control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8906400" y="1874520"/>
            <a:ext cx="2578320" cy="1855800"/>
          </a:xfrm>
          <a:prstGeom prst="roundRect">
            <a:avLst>
              <a:gd name="adj" fmla="val 4926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9107280" y="2020680"/>
            <a:ext cx="2175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PROPOSED SAC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9107280" y="2423160"/>
            <a:ext cx="21758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Learns from interaction and reward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Continuous power and airtime choices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Evaluated on 20 held-out seeds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808080" y="3942178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Research framing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808080" y="4425660"/>
            <a:ext cx="90064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This project investigates a specific joint-control formulation. It does not claim that combining SAC, NOMA–OFDMA and semantic task weights is a completely new concept.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786240" y="5092920"/>
            <a:ext cx="10533960" cy="360"/>
          </a:xfrm>
          <a:prstGeom prst="line">
            <a:avLst/>
          </a:prstGeom>
          <a:ln w="10160">
            <a:solidFill>
              <a:srgbClr val="C5C5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786240" y="5294520"/>
            <a:ext cx="105609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distinctive implementation choices are explicit continuous airtime control, a priority-weighted task-progress reward proxy, and feasibility enforcement by analytical action transformations.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05 • ARCHITECTURE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End-to-end system pipeline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observes the wireless/task state, proposes actions, and learns from the result of each simulation step.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713160" y="2249280"/>
            <a:ext cx="188316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914400" y="239580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STATE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914400" y="2724840"/>
            <a:ext cx="1481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49 observations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8 users + horizon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2596680" y="2898360"/>
            <a:ext cx="274320" cy="360"/>
          </a:xfrm>
          <a:prstGeom prst="line">
            <a:avLst/>
          </a:prstGeom>
          <a:ln w="190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2770560" y="2797920"/>
            <a:ext cx="173520" cy="200880"/>
          </a:xfrm>
          <a:prstGeom prst="chevron">
            <a:avLst>
              <a:gd name="adj" fmla="val 50000"/>
            </a:avLst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2944440" y="2249280"/>
            <a:ext cx="1883160" cy="1298160"/>
          </a:xfrm>
          <a:prstGeom prst="roundRect">
            <a:avLst>
              <a:gd name="adj" fmla="val 7042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3145680" y="239580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SAC AGENT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3145680" y="2724840"/>
            <a:ext cx="1481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Actor network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12 continuous values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4827960" y="2898360"/>
            <a:ext cx="274320" cy="360"/>
          </a:xfrm>
          <a:prstGeom prst="line">
            <a:avLst/>
          </a:prstGeom>
          <a:ln w="190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5001840" y="2797920"/>
            <a:ext cx="173520" cy="200880"/>
          </a:xfrm>
          <a:prstGeom prst="chevron">
            <a:avLst>
              <a:gd name="adj" fmla="val 50000"/>
            </a:avLst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5175360" y="2249280"/>
            <a:ext cx="188316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5376600" y="239580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MAPPING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8"/>
          <p:cNvSpPr/>
          <p:nvPr/>
        </p:nvSpPr>
        <p:spPr>
          <a:xfrm>
            <a:off x="5376600" y="2724840"/>
            <a:ext cx="1481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Power split +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airtime projection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7058880" y="2898360"/>
            <a:ext cx="274320" cy="360"/>
          </a:xfrm>
          <a:prstGeom prst="line">
            <a:avLst/>
          </a:prstGeom>
          <a:ln w="190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0"/>
          <p:cNvSpPr/>
          <p:nvPr/>
        </p:nvSpPr>
        <p:spPr>
          <a:xfrm>
            <a:off x="7232760" y="2797920"/>
            <a:ext cx="173520" cy="200880"/>
          </a:xfrm>
          <a:prstGeom prst="chevron">
            <a:avLst>
              <a:gd name="adj" fmla="val 50000"/>
            </a:avLst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1"/>
          <p:cNvSpPr/>
          <p:nvPr/>
        </p:nvSpPr>
        <p:spPr>
          <a:xfrm>
            <a:off x="7406640" y="2249280"/>
            <a:ext cx="188316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2"/>
          <p:cNvSpPr/>
          <p:nvPr/>
        </p:nvSpPr>
        <p:spPr>
          <a:xfrm>
            <a:off x="7607880" y="239580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ENVIRONMENT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3"/>
          <p:cNvSpPr/>
          <p:nvPr/>
        </p:nvSpPr>
        <p:spPr>
          <a:xfrm>
            <a:off x="7607880" y="2724840"/>
            <a:ext cx="1481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Channel, NOMA,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OFDMA and queues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4"/>
          <p:cNvSpPr/>
          <p:nvPr/>
        </p:nvSpPr>
        <p:spPr>
          <a:xfrm>
            <a:off x="9290160" y="2898360"/>
            <a:ext cx="274320" cy="360"/>
          </a:xfrm>
          <a:prstGeom prst="line">
            <a:avLst/>
          </a:prstGeom>
          <a:ln w="190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5"/>
          <p:cNvSpPr/>
          <p:nvPr/>
        </p:nvSpPr>
        <p:spPr>
          <a:xfrm>
            <a:off x="9464040" y="2797920"/>
            <a:ext cx="173520" cy="200880"/>
          </a:xfrm>
          <a:prstGeom prst="chevron">
            <a:avLst>
              <a:gd name="adj" fmla="val 50000"/>
            </a:avLst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6"/>
          <p:cNvSpPr/>
          <p:nvPr/>
        </p:nvSpPr>
        <p:spPr>
          <a:xfrm>
            <a:off x="9637920" y="2249280"/>
            <a:ext cx="188316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7"/>
          <p:cNvSpPr/>
          <p:nvPr/>
        </p:nvSpPr>
        <p:spPr>
          <a:xfrm>
            <a:off x="9838800" y="239580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REWARD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8"/>
          <p:cNvSpPr/>
          <p:nvPr/>
        </p:nvSpPr>
        <p:spPr>
          <a:xfrm>
            <a:off x="9838800" y="2724840"/>
            <a:ext cx="1481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Semantic utility −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energy/deadline cost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9"/>
          <p:cNvSpPr/>
          <p:nvPr/>
        </p:nvSpPr>
        <p:spPr>
          <a:xfrm>
            <a:off x="3273480" y="4160520"/>
            <a:ext cx="5714640" cy="868320"/>
          </a:xfrm>
          <a:prstGeom prst="roundRect">
            <a:avLst>
              <a:gd name="adj" fmla="val 10526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0"/>
          <p:cNvSpPr/>
          <p:nvPr/>
        </p:nvSpPr>
        <p:spPr>
          <a:xfrm>
            <a:off x="3474720" y="4306680"/>
            <a:ext cx="5312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REPLAY BUFFER + CRITIC/ACTOR UPDATES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1"/>
          <p:cNvSpPr/>
          <p:nvPr/>
        </p:nvSpPr>
        <p:spPr>
          <a:xfrm>
            <a:off x="3474720" y="4572000"/>
            <a:ext cx="5312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SAC uses replayed transitions to update the policy and value estimates.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2"/>
          <p:cNvSpPr/>
          <p:nvPr/>
        </p:nvSpPr>
        <p:spPr>
          <a:xfrm flipV="1">
            <a:off x="8823960" y="3657600"/>
            <a:ext cx="1746360" cy="502920"/>
          </a:xfrm>
          <a:prstGeom prst="line">
            <a:avLst/>
          </a:prstGeom>
          <a:ln w="12700">
            <a:solidFill>
              <a:srgbClr val="5F636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3"/>
          <p:cNvSpPr/>
          <p:nvPr/>
        </p:nvSpPr>
        <p:spPr>
          <a:xfrm flipH="1" flipV="1">
            <a:off x="1682280" y="3657600"/>
            <a:ext cx="1774080" cy="502920"/>
          </a:xfrm>
          <a:prstGeom prst="line">
            <a:avLst/>
          </a:prstGeom>
          <a:ln w="12700">
            <a:solidFill>
              <a:srgbClr val="5F636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4"/>
          <p:cNvSpPr/>
          <p:nvPr/>
        </p:nvSpPr>
        <p:spPr>
          <a:xfrm>
            <a:off x="795600" y="5541120"/>
            <a:ext cx="10881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One step: observe → act → enforce constraints → simulate service → update tasks → compute reward → learn.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06 • WIRELESS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Channel conditions and simulation assumptions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environment uses a configurable log-distance path-loss model with independent Rayleigh fading per frame.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749880" y="1856160"/>
            <a:ext cx="4983120" cy="1938240"/>
          </a:xfrm>
          <a:prstGeom prst="roundRect">
            <a:avLst>
              <a:gd name="adj" fmla="val 471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951120" y="2002680"/>
            <a:ext cx="4580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PATH LOSS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951120" y="2331720"/>
            <a:ext cx="458064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PLᵢ = PL₀ + 10 n log₁₀(dᵢ / d₀)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Carrier frequency: 3.5 GHz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Path-loss exponent: n = 3.5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User distance: 30–250 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Reference distance: 1 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6071760" y="1856160"/>
            <a:ext cx="5348880" cy="1938240"/>
          </a:xfrm>
          <a:prstGeom prst="roundRect">
            <a:avLst>
              <a:gd name="adj" fmla="val 471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6272640" y="2002680"/>
            <a:ext cx="4946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SMALL-SCALE FADING + NOISE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6272640" y="2331720"/>
            <a:ext cx="494640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gᵢ(t) = 10^(−PLᵢ/10) · |hᵢ(t)|²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Rayleigh fading: hᵢ(t) ∼ CN(0,1)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Noise density: −174 dBm/Hz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Receiver noise figure: 7 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Subchannel bandwidth: 180 kHz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786240" y="4361760"/>
            <a:ext cx="19198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2212920" y="4325040"/>
            <a:ext cx="90705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Channel gain changes affect the achievable rates of the weak and strong users in each NOMA pair. Fading is re-sampled independently across frames; temporal channel correlation is not modelled.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804600" y="5376600"/>
            <a:ext cx="27428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877680" y="5394960"/>
            <a:ext cx="259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Simulation only • no live radio hardware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3794760" y="5376600"/>
            <a:ext cx="292572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3867840" y="5394960"/>
            <a:ext cx="2779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Ideal successive interference cancellation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6986160" y="5376600"/>
            <a:ext cx="38858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7059240" y="5394960"/>
            <a:ext cx="3739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Fixed user pairing and subchannel assignment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07 • RESOURCE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How power and airtime affect each pair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NOMA uses power-domain sharing within a pair; OFDMA subchannels are orthogonal and separate pairs time-share each subchannel.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749880" y="1847160"/>
            <a:ext cx="5284800" cy="191988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951120" y="1993320"/>
            <a:ext cx="488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PAIR-LEVEL POWER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951120" y="2322720"/>
            <a:ext cx="488268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P_g = η_g · Pmax / M,     0 ≤ η_g ≤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p_w,g = β_g P_g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p_s,g = (1 − β_g) P_g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0.5 ≤ β_g ≤ 0.95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6199560" y="1847160"/>
            <a:ext cx="5211720" cy="191988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6400800" y="1993320"/>
            <a:ext cx="4809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RATE + AIRTIME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6400800" y="2322720"/>
            <a:ext cx="480924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γ_w = p_w g_w / (p_s g_w + 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γ_s = p_s g_s / N   (ideal SIC)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Rᵢ = B log₂(1 + γᵢ)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τ_g ∈ [0,1], with Σ τ_g ≤ 1 per subchannel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804600" y="425196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FIXED PAIR MAPPING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804600" y="4617720"/>
            <a:ext cx="95976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877680" y="4636080"/>
            <a:ext cx="813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SC 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1929240" y="4617720"/>
            <a:ext cx="13712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2002680" y="4636080"/>
            <a:ext cx="1225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Pair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3483720" y="4617720"/>
            <a:ext cx="13712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3557160" y="4636080"/>
            <a:ext cx="1225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Pair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9"/>
          <p:cNvSpPr/>
          <p:nvPr/>
        </p:nvSpPr>
        <p:spPr>
          <a:xfrm>
            <a:off x="3291840" y="4818600"/>
            <a:ext cx="164520" cy="360"/>
          </a:xfrm>
          <a:prstGeom prst="line">
            <a:avLst/>
          </a:prstGeom>
          <a:ln w="1397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0"/>
          <p:cNvSpPr/>
          <p:nvPr/>
        </p:nvSpPr>
        <p:spPr>
          <a:xfrm>
            <a:off x="6309360" y="4617720"/>
            <a:ext cx="95976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6382440" y="4636080"/>
            <a:ext cx="813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SC 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2"/>
          <p:cNvSpPr/>
          <p:nvPr/>
        </p:nvSpPr>
        <p:spPr>
          <a:xfrm>
            <a:off x="7434000" y="4617720"/>
            <a:ext cx="13712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7507080" y="4636080"/>
            <a:ext cx="1225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Pair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4"/>
          <p:cNvSpPr/>
          <p:nvPr/>
        </p:nvSpPr>
        <p:spPr>
          <a:xfrm>
            <a:off x="8988480" y="4617720"/>
            <a:ext cx="1371240" cy="402120"/>
          </a:xfrm>
          <a:prstGeom prst="roundRect">
            <a:avLst>
              <a:gd name="adj" fmla="val 27273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5"/>
          <p:cNvSpPr/>
          <p:nvPr/>
        </p:nvSpPr>
        <p:spPr>
          <a:xfrm>
            <a:off x="9061560" y="4636080"/>
            <a:ext cx="1225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Pair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6"/>
          <p:cNvSpPr/>
          <p:nvPr/>
        </p:nvSpPr>
        <p:spPr>
          <a:xfrm>
            <a:off x="8796240" y="4818600"/>
            <a:ext cx="164880" cy="360"/>
          </a:xfrm>
          <a:prstGeom prst="line">
            <a:avLst/>
          </a:prstGeom>
          <a:ln w="1397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7"/>
          <p:cNvSpPr/>
          <p:nvPr/>
        </p:nvSpPr>
        <p:spPr>
          <a:xfrm>
            <a:off x="804600" y="5596200"/>
            <a:ext cx="10652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This is a simplified Shannon-rate simulation with ideal SIC, not a link-level PHY model with coding errors or residual interference.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08 • SEMANTIC TASK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Semantic importance is represented by a priority-weighted service proxy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Each simulated user task has demand, deadline, and a scalar importance weight; no neural semantic encoder is used.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749880" y="1856160"/>
            <a:ext cx="342864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951120" y="2002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DATA DEMAND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951120" y="235908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2,000–10,000 bits per task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4389120" y="1856160"/>
            <a:ext cx="342864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4590360" y="2002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TASK DEADLINE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4590360" y="235908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2–6 frames remaining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8028360" y="1856160"/>
            <a:ext cx="3428640" cy="1298160"/>
          </a:xfrm>
          <a:prstGeom prst="roundRect">
            <a:avLst>
              <a:gd name="adj" fmla="val 704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8229600" y="200268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IMPORTANCE WEIGHT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8229600" y="2359080"/>
            <a:ext cx="30261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wᵢ ∈ [0.2, 1.0]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777240" y="3593520"/>
            <a:ext cx="5175000" cy="1398600"/>
          </a:xfrm>
          <a:prstGeom prst="roundRect">
            <a:avLst>
              <a:gd name="adj" fmla="val 6536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978480" y="3740040"/>
            <a:ext cx="4772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USEFUL SERVICE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978480" y="4069080"/>
            <a:ext cx="477288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sᵢ(t) = min(qᵢ(t), cᵢ(t))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qᵢ: remaining demand • cᵢ: bits served this frame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6217920" y="3593520"/>
            <a:ext cx="5147640" cy="1398600"/>
          </a:xfrm>
          <a:prstGeom prst="roundRect">
            <a:avLst>
              <a:gd name="adj" fmla="val 6536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6419160" y="3740040"/>
            <a:ext cx="474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SEMANTIC UTILITY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0"/>
          <p:cNvSpPr/>
          <p:nvPr/>
        </p:nvSpPr>
        <p:spPr>
          <a:xfrm>
            <a:off x="6419160" y="4069080"/>
            <a:ext cx="474552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U_sem(t) = (1/K) Σᵢ wᵢ · sᵢ(t) / Dᵢ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Task progress is capped at remaining demand.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1"/>
          <p:cNvSpPr/>
          <p:nvPr/>
        </p:nvSpPr>
        <p:spPr>
          <a:xfrm>
            <a:off x="804600" y="5449680"/>
            <a:ext cx="105609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1" u="none" strike="noStrike">
                <a:solidFill>
                  <a:srgbClr val="8C5E21"/>
                </a:solidFill>
                <a:effectLst/>
                <a:uFillTx/>
                <a:latin typeface="Arial"/>
                <a:ea typeface="Arial"/>
              </a:rPr>
              <a:t>Important interpretation: “semantic utility” is a synthetic priority-weighted task-progress measure. It is not semantic similarity, BLEU, accuracy, or actual text/image meaning preservation.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09 • REINFORCEMENT LEARNING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SAC observation, action and reward design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policy controls 4 NOMA pairs with continuous actions at each simulation step.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749880" y="1856160"/>
            <a:ext cx="3401280" cy="1965600"/>
          </a:xfrm>
          <a:prstGeom prst="roundRect">
            <a:avLst>
              <a:gd name="adj" fmla="val 4651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951120" y="200268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STATE  •  49 FEATURES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951120" y="2340720"/>
            <a:ext cx="299880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For each of 8 users: 6 features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normalized channel gain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normalized distance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remaining demand ratio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original demand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semantic importance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remaining deadline ratio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+ 1 global horizon feature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4389120" y="1856160"/>
            <a:ext cx="3401280" cy="1965600"/>
          </a:xfrm>
          <a:prstGeom prst="roundRect">
            <a:avLst>
              <a:gd name="adj" fmla="val 4651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4590360" y="200268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ACTION  •  12 VALUES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4590360" y="2340720"/>
            <a:ext cx="299880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3 continuous values per pair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η: power utilization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β: weak-user power fraction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z: airtime preference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Action space: [-1, 1]¹²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8028360" y="1856160"/>
            <a:ext cx="3401280" cy="1965600"/>
          </a:xfrm>
          <a:prstGeom prst="roundRect">
            <a:avLst>
              <a:gd name="adj" fmla="val 4651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8229600" y="200268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REWARD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8229600" y="2340720"/>
            <a:ext cx="299880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rₜ = U_sem(t) − λ_E E_norm(t) − λ_D Mₜ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λ_E = 0.01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λ_D = 0.5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Balances useful task progress, energy and deadline misses.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795600" y="44074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Soft Actor-Critic is an off-policy actor–critic algorithm for continuous control. The policy learns by maximizing cumulative reward with entropy-regularized exploration.</a:t>
            </a:r>
            <a:endParaRPr lang="en-US" sz="1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6"/>
          <p:cNvSpPr/>
          <p:nvPr/>
        </p:nvSpPr>
        <p:spPr>
          <a:xfrm>
            <a:off x="822960" y="5266800"/>
            <a:ext cx="2944080" cy="392760"/>
          </a:xfrm>
          <a:prstGeom prst="roundRect">
            <a:avLst>
              <a:gd name="adj" fmla="val 2790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7"/>
          <p:cNvSpPr/>
          <p:nvPr/>
        </p:nvSpPr>
        <p:spPr>
          <a:xfrm>
            <a:off x="896040" y="5285160"/>
            <a:ext cx="27975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Continuous control problem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8"/>
          <p:cNvSpPr/>
          <p:nvPr/>
        </p:nvSpPr>
        <p:spPr>
          <a:xfrm>
            <a:off x="4142160" y="5266800"/>
            <a:ext cx="2944080" cy="392760"/>
          </a:xfrm>
          <a:prstGeom prst="roundRect">
            <a:avLst>
              <a:gd name="adj" fmla="val 27907"/>
            </a:avLst>
          </a:prstGeom>
          <a:solidFill>
            <a:srgbClr val="F3EFE8"/>
          </a:solidFill>
          <a:ln w="8890">
            <a:solidFill>
              <a:srgbClr val="B69A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4215240" y="5285160"/>
            <a:ext cx="279756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8C5E21"/>
                </a:solidFill>
                <a:effectLst/>
                <a:uFillTx/>
                <a:latin typeface="Arial"/>
                <a:ea typeface="Arial"/>
              </a:rPr>
              <a:t>Not supervised classification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0"/>
          <p:cNvSpPr/>
          <p:nvPr/>
        </p:nvSpPr>
        <p:spPr>
          <a:xfrm>
            <a:off x="7452360" y="5266800"/>
            <a:ext cx="3200040" cy="392760"/>
          </a:xfrm>
          <a:prstGeom prst="roundRect">
            <a:avLst>
              <a:gd name="adj" fmla="val 2790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1"/>
          <p:cNvSpPr/>
          <p:nvPr/>
        </p:nvSpPr>
        <p:spPr>
          <a:xfrm>
            <a:off x="7525440" y="5285160"/>
            <a:ext cx="305388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Accuracy / F1 are not primary metrics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10 • CONSTRAINT HANDLING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Feasibility is enforced by action transformations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implementation maps raw SAC outputs into configured physical ranges before the simulator applies them.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804600" y="1947600"/>
            <a:ext cx="10560960" cy="877320"/>
          </a:xfrm>
          <a:prstGeom prst="roundRect">
            <a:avLst>
              <a:gd name="adj" fmla="val 1041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1005840" y="2094120"/>
            <a:ext cx="10158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POWER UTILIZATION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1005840" y="2350080"/>
            <a:ext cx="10158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η_g = (a_η + 1) / 2  →  [0, 1]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P_g = η_g Pmax/M, with M = 2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804600" y="3063240"/>
            <a:ext cx="10560960" cy="877320"/>
          </a:xfrm>
          <a:prstGeom prst="roundRect">
            <a:avLst>
              <a:gd name="adj" fmla="val 10417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1005840" y="3209400"/>
            <a:ext cx="10158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NOMA SPLIT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1005840" y="3465720"/>
            <a:ext cx="10158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β_g = 0.5 + 0.45(a_β + 1)/2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Weak/strong shares sum to pair power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804600" y="4178880"/>
            <a:ext cx="10560960" cy="877320"/>
          </a:xfrm>
          <a:prstGeom prst="roundRect">
            <a:avLst>
              <a:gd name="adj" fmla="val 10417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1005840" y="4325040"/>
            <a:ext cx="10158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AIRTIME SHARING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1005840" y="4581000"/>
            <a:ext cx="10158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z_g = (a_τ + 1)/2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Normalize candidate-pair preferences per subchannel so Στ_g ≤ 1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850320" y="5468040"/>
            <a:ext cx="274284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923400" y="5486400"/>
            <a:ext cx="2596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Max power violations: 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7"/>
          <p:cNvSpPr/>
          <p:nvPr/>
        </p:nvSpPr>
        <p:spPr>
          <a:xfrm>
            <a:off x="3785760" y="5468040"/>
            <a:ext cx="2742840" cy="411120"/>
          </a:xfrm>
          <a:prstGeom prst="roundRect">
            <a:avLst>
              <a:gd name="adj" fmla="val 26667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3858840" y="5486400"/>
            <a:ext cx="2596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Max airtime violations: 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6766560" y="5468040"/>
            <a:ext cx="4525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Zero violations were recorded for all four policies in the saved 80 policy-episode evaluations.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11 • IMPLEMENTATION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Training configuration and software stack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Values below are from run_20261014_194752/run_config.json and run_summary.json.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786240" y="182880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951120" y="187002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Algorithm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951120" y="2178176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SAC • </a:t>
            </a:r>
            <a:r>
              <a:rPr lang="en-US" sz="1220" b="0" u="none" strike="noStrike" dirty="0" err="1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MlpPolicy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4434840" y="182880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4604040" y="1849259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Network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4636080" y="2167783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[128, 128] hidden layers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2"/>
          <p:cNvSpPr/>
          <p:nvPr/>
        </p:nvSpPr>
        <p:spPr>
          <a:xfrm>
            <a:off x="8119800" y="182880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8242080" y="18471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Learning rate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4"/>
          <p:cNvSpPr/>
          <p:nvPr/>
        </p:nvSpPr>
        <p:spPr>
          <a:xfrm>
            <a:off x="8321040" y="211212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3 × 10⁻⁴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5"/>
          <p:cNvSpPr/>
          <p:nvPr/>
        </p:nvSpPr>
        <p:spPr>
          <a:xfrm>
            <a:off x="749520" y="2613536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951120" y="27057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Discount γ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7"/>
          <p:cNvSpPr/>
          <p:nvPr/>
        </p:nvSpPr>
        <p:spPr>
          <a:xfrm>
            <a:off x="951120" y="293508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8"/>
          <p:cNvSpPr/>
          <p:nvPr/>
        </p:nvSpPr>
        <p:spPr>
          <a:xfrm>
            <a:off x="4434660" y="266994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9"/>
          <p:cNvSpPr/>
          <p:nvPr/>
        </p:nvSpPr>
        <p:spPr>
          <a:xfrm>
            <a:off x="4636080" y="2715547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Replay buffer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0"/>
          <p:cNvSpPr/>
          <p:nvPr/>
        </p:nvSpPr>
        <p:spPr>
          <a:xfrm>
            <a:off x="4636080" y="293508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25,000 transitions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1"/>
          <p:cNvSpPr/>
          <p:nvPr/>
        </p:nvSpPr>
        <p:spPr>
          <a:xfrm>
            <a:off x="8119800" y="265176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2"/>
          <p:cNvSpPr/>
          <p:nvPr/>
        </p:nvSpPr>
        <p:spPr>
          <a:xfrm>
            <a:off x="8321040" y="27057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Batch size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3"/>
          <p:cNvSpPr/>
          <p:nvPr/>
        </p:nvSpPr>
        <p:spPr>
          <a:xfrm>
            <a:off x="8321040" y="293508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128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4"/>
          <p:cNvSpPr/>
          <p:nvPr/>
        </p:nvSpPr>
        <p:spPr>
          <a:xfrm>
            <a:off x="749880" y="347472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5"/>
          <p:cNvSpPr/>
          <p:nvPr/>
        </p:nvSpPr>
        <p:spPr>
          <a:xfrm>
            <a:off x="987480" y="3568136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Learning starts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6"/>
          <p:cNvSpPr/>
          <p:nvPr/>
        </p:nvSpPr>
        <p:spPr>
          <a:xfrm>
            <a:off x="951120" y="375804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500 steps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7"/>
          <p:cNvSpPr/>
          <p:nvPr/>
        </p:nvSpPr>
        <p:spPr>
          <a:xfrm>
            <a:off x="4434660" y="346518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8"/>
          <p:cNvSpPr/>
          <p:nvPr/>
        </p:nvSpPr>
        <p:spPr>
          <a:xfrm>
            <a:off x="4636080" y="3557854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Train frequency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9"/>
          <p:cNvSpPr/>
          <p:nvPr/>
        </p:nvSpPr>
        <p:spPr>
          <a:xfrm>
            <a:off x="4636080" y="375804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4 steps / 1 gradient step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0"/>
          <p:cNvSpPr/>
          <p:nvPr/>
        </p:nvSpPr>
        <p:spPr>
          <a:xfrm>
            <a:off x="8119800" y="347472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1"/>
          <p:cNvSpPr/>
          <p:nvPr/>
        </p:nvSpPr>
        <p:spPr>
          <a:xfrm>
            <a:off x="8321040" y="354744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Training budget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2"/>
          <p:cNvSpPr/>
          <p:nvPr/>
        </p:nvSpPr>
        <p:spPr>
          <a:xfrm>
            <a:off x="8321040" y="375804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20,000 timesteps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3"/>
          <p:cNvSpPr/>
          <p:nvPr/>
        </p:nvSpPr>
        <p:spPr>
          <a:xfrm>
            <a:off x="749880" y="429768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4"/>
          <p:cNvSpPr/>
          <p:nvPr/>
        </p:nvSpPr>
        <p:spPr>
          <a:xfrm>
            <a:off x="951120" y="438894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Runtime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5"/>
          <p:cNvSpPr/>
          <p:nvPr/>
        </p:nvSpPr>
        <p:spPr>
          <a:xfrm>
            <a:off x="951120" y="458100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62.89 seconds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6"/>
          <p:cNvSpPr/>
          <p:nvPr/>
        </p:nvSpPr>
        <p:spPr>
          <a:xfrm>
            <a:off x="4434840" y="429768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7"/>
          <p:cNvSpPr/>
          <p:nvPr/>
        </p:nvSpPr>
        <p:spPr>
          <a:xfrm>
            <a:off x="4636080" y="43797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CPU limit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8"/>
          <p:cNvSpPr/>
          <p:nvPr/>
        </p:nvSpPr>
        <p:spPr>
          <a:xfrm>
            <a:off x="4636080" y="458100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 threads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9"/>
          <p:cNvSpPr/>
          <p:nvPr/>
        </p:nvSpPr>
        <p:spPr>
          <a:xfrm>
            <a:off x="8119800" y="4297680"/>
            <a:ext cx="3401280" cy="658080"/>
          </a:xfrm>
          <a:prstGeom prst="roundRect">
            <a:avLst>
              <a:gd name="adj" fmla="val 13889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0"/>
          <p:cNvSpPr/>
          <p:nvPr/>
        </p:nvSpPr>
        <p:spPr>
          <a:xfrm>
            <a:off x="8321040" y="438894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 dirty="0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Seed</a:t>
            </a:r>
            <a:endParaRPr lang="en-US" sz="10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1"/>
          <p:cNvSpPr/>
          <p:nvPr/>
        </p:nvSpPr>
        <p:spPr>
          <a:xfrm>
            <a:off x="8321040" y="4581000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2"/>
          <p:cNvSpPr/>
          <p:nvPr/>
        </p:nvSpPr>
        <p:spPr>
          <a:xfrm>
            <a:off x="786240" y="54223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Stack: Python • NumPy • PyTorch • Gymnasium • Stable-Baselines3 SAC • Pandas • Matplotlib • pytest (Streamlit dashboard optional)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12 • TRAINING EVIDENCE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SAC training reward across 20,000 timesteps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saved reward curve shows variable episode rewards with a modestly improving rolling mean.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0" descr="/mnt/data/ppt_assets/training_reward.png"/>
          <p:cNvPicPr/>
          <p:nvPr/>
        </p:nvPicPr>
        <p:blipFill>
          <a:blip r:embed="rId3"/>
          <a:stretch/>
        </p:blipFill>
        <p:spPr>
          <a:xfrm>
            <a:off x="951840" y="1700640"/>
            <a:ext cx="7066080" cy="441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Shape 6"/>
          <p:cNvSpPr/>
          <p:nvPr/>
        </p:nvSpPr>
        <p:spPr>
          <a:xfrm>
            <a:off x="8412480" y="1901880"/>
            <a:ext cx="2980440" cy="1023840"/>
          </a:xfrm>
          <a:prstGeom prst="roundRect">
            <a:avLst>
              <a:gd name="adj" fmla="val 8929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8613720" y="2048400"/>
            <a:ext cx="2578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TRAINING BUDGET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8613720" y="235008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20,000 completed timesteps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8412480" y="3108960"/>
            <a:ext cx="2980440" cy="1023840"/>
          </a:xfrm>
          <a:prstGeom prst="roundRect">
            <a:avLst>
              <a:gd name="adj" fmla="val 892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8613720" y="3255120"/>
            <a:ext cx="2578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WALL-CLOCK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8613720" y="355716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62.89 seconds recorded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8412480" y="4316040"/>
            <a:ext cx="2980440" cy="1188360"/>
          </a:xfrm>
          <a:prstGeom prst="roundRect">
            <a:avLst>
              <a:gd name="adj" fmla="val 769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8613720" y="4462200"/>
            <a:ext cx="2578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HOW TO READ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4"/>
          <p:cNvSpPr/>
          <p:nvPr/>
        </p:nvSpPr>
        <p:spPr>
          <a:xfrm>
            <a:off x="8613720" y="4763880"/>
            <a:ext cx="25783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The curve reflects stochastic training. It does not prove global or asymptotic convergence; held-out evaluation is the main evidence.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13 • POLICY BEHAVIOUR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Example resource-allocation traces from SAC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These are saved policy traces across 50 frames; use them as examples of learned controls, not as population-level statistics.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/mnt/data/ppt_assets/power_allocation_example.png"/>
          <p:cNvPicPr/>
          <p:nvPr/>
        </p:nvPicPr>
        <p:blipFill>
          <a:blip r:embed="rId3"/>
          <a:stretch/>
        </p:blipFill>
        <p:spPr>
          <a:xfrm>
            <a:off x="667440" y="2123640"/>
            <a:ext cx="5440320" cy="272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Image 1" descr="/mnt/data/ppt_assets/airtime_allocation_example.png"/>
          <p:cNvPicPr/>
          <p:nvPr/>
        </p:nvPicPr>
        <p:blipFill>
          <a:blip r:embed="rId4"/>
          <a:stretch/>
        </p:blipFill>
        <p:spPr>
          <a:xfrm>
            <a:off x="6172200" y="2144160"/>
            <a:ext cx="5357880" cy="267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6"/>
          <p:cNvSpPr/>
          <p:nvPr/>
        </p:nvSpPr>
        <p:spPr>
          <a:xfrm>
            <a:off x="914400" y="5230440"/>
            <a:ext cx="4983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Pair-level transmit power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6382440" y="5230440"/>
            <a:ext cx="4891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Airtime fractions by candidate pair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795600" y="5623560"/>
            <a:ext cx="10743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saved traces show non-identical power choices and airtime preferences that remain within the designed feasible ranges.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14 • EVALUATION PROTOCOL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How the policies were compared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Training, validation and test seeds are separated; the reported table uses held-out test scenarios only.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749880" y="1874520"/>
            <a:ext cx="3273120" cy="1261440"/>
          </a:xfrm>
          <a:prstGeom prst="roundRect">
            <a:avLst>
              <a:gd name="adj" fmla="val 7246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951120" y="20206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TRAINING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951120" y="2350080"/>
            <a:ext cx="2871000" cy="64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Seed 42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SAC trained for 20,000 timesteps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9"/>
          <p:cNvSpPr/>
          <p:nvPr/>
        </p:nvSpPr>
        <p:spPr>
          <a:xfrm>
            <a:off x="4462200" y="1874520"/>
            <a:ext cx="3273120" cy="1261440"/>
          </a:xfrm>
          <a:prstGeom prst="roundRect">
            <a:avLst>
              <a:gd name="adj" fmla="val 7246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0"/>
          <p:cNvSpPr/>
          <p:nvPr/>
        </p:nvSpPr>
        <p:spPr>
          <a:xfrm>
            <a:off x="4663440" y="20206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VALIDATION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4663440" y="2350080"/>
            <a:ext cx="2871000" cy="64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Seeds 1000–1004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5 validation seeds in configuration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2"/>
          <p:cNvSpPr/>
          <p:nvPr/>
        </p:nvSpPr>
        <p:spPr>
          <a:xfrm>
            <a:off x="8174880" y="1874520"/>
            <a:ext cx="3273120" cy="1261440"/>
          </a:xfrm>
          <a:prstGeom prst="roundRect">
            <a:avLst>
              <a:gd name="adj" fmla="val 7246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8375760" y="20206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HELD-OUT TEST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4"/>
          <p:cNvSpPr/>
          <p:nvPr/>
        </p:nvSpPr>
        <p:spPr>
          <a:xfrm>
            <a:off x="8375760" y="2350080"/>
            <a:ext cx="2871000" cy="64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Seeds 2000–2019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20 test scenarios per policy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795600" y="37033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Four evaluated policies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6"/>
          <p:cNvSpPr/>
          <p:nvPr/>
        </p:nvSpPr>
        <p:spPr>
          <a:xfrm>
            <a:off x="822960" y="4114800"/>
            <a:ext cx="1627200" cy="347040"/>
          </a:xfrm>
          <a:prstGeom prst="roundRect">
            <a:avLst>
              <a:gd name="adj" fmla="val 31579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7"/>
          <p:cNvSpPr/>
          <p:nvPr/>
        </p:nvSpPr>
        <p:spPr>
          <a:xfrm>
            <a:off x="896040" y="413316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SAC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8"/>
          <p:cNvSpPr/>
          <p:nvPr/>
        </p:nvSpPr>
        <p:spPr>
          <a:xfrm>
            <a:off x="2633400" y="4133160"/>
            <a:ext cx="3291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trained policy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9"/>
          <p:cNvSpPr/>
          <p:nvPr/>
        </p:nvSpPr>
        <p:spPr>
          <a:xfrm>
            <a:off x="6291000" y="4114800"/>
            <a:ext cx="1627200" cy="347040"/>
          </a:xfrm>
          <a:prstGeom prst="roundRect">
            <a:avLst>
              <a:gd name="adj" fmla="val 31579"/>
            </a:avLst>
          </a:prstGeom>
          <a:solidFill>
            <a:srgbClr val="F0F0F0"/>
          </a:solidFill>
          <a:ln w="889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0"/>
          <p:cNvSpPr/>
          <p:nvPr/>
        </p:nvSpPr>
        <p:spPr>
          <a:xfrm>
            <a:off x="6364080" y="413316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Equal Allocation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1"/>
          <p:cNvSpPr/>
          <p:nvPr/>
        </p:nvSpPr>
        <p:spPr>
          <a:xfrm>
            <a:off x="8101440" y="4133160"/>
            <a:ext cx="3291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fixed power/airtime baseline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2"/>
          <p:cNvSpPr/>
          <p:nvPr/>
        </p:nvSpPr>
        <p:spPr>
          <a:xfrm>
            <a:off x="822960" y="4754880"/>
            <a:ext cx="1627200" cy="347040"/>
          </a:xfrm>
          <a:prstGeom prst="roundRect">
            <a:avLst>
              <a:gd name="adj" fmla="val 31579"/>
            </a:avLst>
          </a:prstGeom>
          <a:solidFill>
            <a:srgbClr val="F0F0F0"/>
          </a:solidFill>
          <a:ln w="889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3"/>
          <p:cNvSpPr/>
          <p:nvPr/>
        </p:nvSpPr>
        <p:spPr>
          <a:xfrm>
            <a:off x="896040" y="477324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Semantic Priority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4"/>
          <p:cNvSpPr/>
          <p:nvPr/>
        </p:nvSpPr>
        <p:spPr>
          <a:xfrm>
            <a:off x="2633400" y="4773240"/>
            <a:ext cx="3291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rule-based heuristic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5"/>
          <p:cNvSpPr/>
          <p:nvPr/>
        </p:nvSpPr>
        <p:spPr>
          <a:xfrm>
            <a:off x="6291000" y="4754880"/>
            <a:ext cx="1627200" cy="347040"/>
          </a:xfrm>
          <a:prstGeom prst="roundRect">
            <a:avLst>
              <a:gd name="adj" fmla="val 31579"/>
            </a:avLst>
          </a:prstGeom>
          <a:solidFill>
            <a:srgbClr val="F0F0F0"/>
          </a:solidFill>
          <a:ln w="889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6"/>
          <p:cNvSpPr/>
          <p:nvPr/>
        </p:nvSpPr>
        <p:spPr>
          <a:xfrm>
            <a:off x="6364080" y="4773240"/>
            <a:ext cx="1481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Random Allocation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8101440" y="4773240"/>
            <a:ext cx="3291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random feasible controls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8"/>
          <p:cNvSpPr/>
          <p:nvPr/>
        </p:nvSpPr>
        <p:spPr>
          <a:xfrm>
            <a:off x="804600" y="5614560"/>
            <a:ext cx="10606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Reported metrics: mean reward, semantic utility, goodput, sum rate, task completion, deadline-miss rate, latency, energy, energy efficiency, Jain fairness, constraint violations.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15 • RESULTS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Held-out comparison across 20 scenarios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Mean values from the saved evaluation summary; goodput is displayed in Mbps, rates rounded for readability.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13160" y="1874520"/>
            <a:ext cx="191988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768240" y="1892880"/>
            <a:ext cx="181008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POLICY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2633400" y="1874520"/>
            <a:ext cx="141696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2688480" y="1892880"/>
            <a:ext cx="130716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MEAN REWARD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0"/>
          <p:cNvSpPr/>
          <p:nvPr/>
        </p:nvSpPr>
        <p:spPr>
          <a:xfrm>
            <a:off x="4050720" y="1874520"/>
            <a:ext cx="157248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4105800" y="1892880"/>
            <a:ext cx="146268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SEM. UTILITY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2"/>
          <p:cNvSpPr/>
          <p:nvPr/>
        </p:nvSpPr>
        <p:spPr>
          <a:xfrm>
            <a:off x="5623560" y="1874520"/>
            <a:ext cx="169128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3"/>
          <p:cNvSpPr/>
          <p:nvPr/>
        </p:nvSpPr>
        <p:spPr>
          <a:xfrm>
            <a:off x="5678280" y="1892880"/>
            <a:ext cx="158148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GOODPUT (Mb/s)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4"/>
          <p:cNvSpPr/>
          <p:nvPr/>
        </p:nvSpPr>
        <p:spPr>
          <a:xfrm>
            <a:off x="7315200" y="1874520"/>
            <a:ext cx="178272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5"/>
          <p:cNvSpPr/>
          <p:nvPr/>
        </p:nvSpPr>
        <p:spPr>
          <a:xfrm>
            <a:off x="7369920" y="1892880"/>
            <a:ext cx="167292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COMPLETE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6"/>
          <p:cNvSpPr/>
          <p:nvPr/>
        </p:nvSpPr>
        <p:spPr>
          <a:xfrm>
            <a:off x="9098280" y="1874520"/>
            <a:ext cx="1782720" cy="502560"/>
          </a:xfrm>
          <a:prstGeom prst="rect">
            <a:avLst/>
          </a:prstGeom>
          <a:solidFill>
            <a:srgbClr val="171717"/>
          </a:solidFill>
          <a:ln w="6985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7"/>
          <p:cNvSpPr/>
          <p:nvPr/>
        </p:nvSpPr>
        <p:spPr>
          <a:xfrm>
            <a:off x="9153000" y="1892880"/>
            <a:ext cx="167292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DEADLINE MISS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8"/>
          <p:cNvSpPr/>
          <p:nvPr/>
        </p:nvSpPr>
        <p:spPr>
          <a:xfrm>
            <a:off x="713160" y="2377440"/>
            <a:ext cx="191988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9"/>
          <p:cNvSpPr/>
          <p:nvPr/>
        </p:nvSpPr>
        <p:spPr>
          <a:xfrm>
            <a:off x="768240" y="2395800"/>
            <a:ext cx="18100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SAC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0"/>
          <p:cNvSpPr/>
          <p:nvPr/>
        </p:nvSpPr>
        <p:spPr>
          <a:xfrm>
            <a:off x="2633400" y="2377440"/>
            <a:ext cx="141696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1"/>
          <p:cNvSpPr/>
          <p:nvPr/>
        </p:nvSpPr>
        <p:spPr>
          <a:xfrm>
            <a:off x="2688480" y="2395800"/>
            <a:ext cx="13071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12.145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2"/>
          <p:cNvSpPr/>
          <p:nvPr/>
        </p:nvSpPr>
        <p:spPr>
          <a:xfrm>
            <a:off x="4050720" y="2377440"/>
            <a:ext cx="157248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3"/>
          <p:cNvSpPr/>
          <p:nvPr/>
        </p:nvSpPr>
        <p:spPr>
          <a:xfrm>
            <a:off x="4105800" y="2395800"/>
            <a:ext cx="1462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0.2561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4"/>
          <p:cNvSpPr/>
          <p:nvPr/>
        </p:nvSpPr>
        <p:spPr>
          <a:xfrm>
            <a:off x="5623560" y="2377440"/>
            <a:ext cx="169128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5"/>
          <p:cNvSpPr/>
          <p:nvPr/>
        </p:nvSpPr>
        <p:spPr>
          <a:xfrm>
            <a:off x="5678280" y="2395800"/>
            <a:ext cx="15814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2.015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6"/>
          <p:cNvSpPr/>
          <p:nvPr/>
        </p:nvSpPr>
        <p:spPr>
          <a:xfrm>
            <a:off x="7315200" y="2377440"/>
            <a:ext cx="178272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7"/>
          <p:cNvSpPr/>
          <p:nvPr/>
        </p:nvSpPr>
        <p:spPr>
          <a:xfrm>
            <a:off x="7369920" y="239580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78.78%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28"/>
          <p:cNvSpPr/>
          <p:nvPr/>
        </p:nvSpPr>
        <p:spPr>
          <a:xfrm>
            <a:off x="9098280" y="2377440"/>
            <a:ext cx="1782720" cy="594000"/>
          </a:xfrm>
          <a:prstGeom prst="rect">
            <a:avLst/>
          </a:prstGeom>
          <a:solidFill>
            <a:srgbClr val="E8F0F1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9"/>
          <p:cNvSpPr/>
          <p:nvPr/>
        </p:nvSpPr>
        <p:spPr>
          <a:xfrm>
            <a:off x="9153000" y="239580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16.94%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0"/>
          <p:cNvSpPr/>
          <p:nvPr/>
        </p:nvSpPr>
        <p:spPr>
          <a:xfrm>
            <a:off x="713160" y="2971800"/>
            <a:ext cx="19198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1"/>
          <p:cNvSpPr/>
          <p:nvPr/>
        </p:nvSpPr>
        <p:spPr>
          <a:xfrm>
            <a:off x="768240" y="2990160"/>
            <a:ext cx="18100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Equal Allocation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2"/>
          <p:cNvSpPr/>
          <p:nvPr/>
        </p:nvSpPr>
        <p:spPr>
          <a:xfrm>
            <a:off x="2633400" y="2971800"/>
            <a:ext cx="141696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3"/>
          <p:cNvSpPr/>
          <p:nvPr/>
        </p:nvSpPr>
        <p:spPr>
          <a:xfrm>
            <a:off x="2688480" y="2990160"/>
            <a:ext cx="13071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12.998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4"/>
          <p:cNvSpPr/>
          <p:nvPr/>
        </p:nvSpPr>
        <p:spPr>
          <a:xfrm>
            <a:off x="4050720" y="2971800"/>
            <a:ext cx="15724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5"/>
          <p:cNvSpPr/>
          <p:nvPr/>
        </p:nvSpPr>
        <p:spPr>
          <a:xfrm>
            <a:off x="4105800" y="2990160"/>
            <a:ext cx="1462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0.2760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6"/>
          <p:cNvSpPr/>
          <p:nvPr/>
        </p:nvSpPr>
        <p:spPr>
          <a:xfrm>
            <a:off x="5623560" y="2971800"/>
            <a:ext cx="16912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7"/>
          <p:cNvSpPr/>
          <p:nvPr/>
        </p:nvSpPr>
        <p:spPr>
          <a:xfrm>
            <a:off x="5678280" y="2990160"/>
            <a:ext cx="15814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2.180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8"/>
          <p:cNvSpPr/>
          <p:nvPr/>
        </p:nvSpPr>
        <p:spPr>
          <a:xfrm>
            <a:off x="7315200" y="2971800"/>
            <a:ext cx="178272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9"/>
          <p:cNvSpPr/>
          <p:nvPr/>
        </p:nvSpPr>
        <p:spPr>
          <a:xfrm>
            <a:off x="7369920" y="299016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82.46%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0"/>
          <p:cNvSpPr/>
          <p:nvPr/>
        </p:nvSpPr>
        <p:spPr>
          <a:xfrm>
            <a:off x="9098280" y="2971800"/>
            <a:ext cx="178272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1"/>
          <p:cNvSpPr/>
          <p:nvPr/>
        </p:nvSpPr>
        <p:spPr>
          <a:xfrm>
            <a:off x="9153000" y="299016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13.48%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42"/>
          <p:cNvSpPr/>
          <p:nvPr/>
        </p:nvSpPr>
        <p:spPr>
          <a:xfrm>
            <a:off x="713160" y="3566160"/>
            <a:ext cx="191988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3"/>
          <p:cNvSpPr/>
          <p:nvPr/>
        </p:nvSpPr>
        <p:spPr>
          <a:xfrm>
            <a:off x="768240" y="3584520"/>
            <a:ext cx="18100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Semantic Priority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4"/>
          <p:cNvSpPr/>
          <p:nvPr/>
        </p:nvSpPr>
        <p:spPr>
          <a:xfrm>
            <a:off x="2633400" y="3566160"/>
            <a:ext cx="141696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5"/>
          <p:cNvSpPr/>
          <p:nvPr/>
        </p:nvSpPr>
        <p:spPr>
          <a:xfrm>
            <a:off x="2688480" y="3584520"/>
            <a:ext cx="13071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12.234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6"/>
          <p:cNvSpPr/>
          <p:nvPr/>
        </p:nvSpPr>
        <p:spPr>
          <a:xfrm>
            <a:off x="4050720" y="3566160"/>
            <a:ext cx="157248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7"/>
          <p:cNvSpPr/>
          <p:nvPr/>
        </p:nvSpPr>
        <p:spPr>
          <a:xfrm>
            <a:off x="4105800" y="3584520"/>
            <a:ext cx="1462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0.2555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48"/>
          <p:cNvSpPr/>
          <p:nvPr/>
        </p:nvSpPr>
        <p:spPr>
          <a:xfrm>
            <a:off x="5623560" y="3566160"/>
            <a:ext cx="169128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9"/>
          <p:cNvSpPr/>
          <p:nvPr/>
        </p:nvSpPr>
        <p:spPr>
          <a:xfrm>
            <a:off x="5678280" y="3584520"/>
            <a:ext cx="15814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1.999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50"/>
          <p:cNvSpPr/>
          <p:nvPr/>
        </p:nvSpPr>
        <p:spPr>
          <a:xfrm>
            <a:off x="7315200" y="3566160"/>
            <a:ext cx="178272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51"/>
          <p:cNvSpPr/>
          <p:nvPr/>
        </p:nvSpPr>
        <p:spPr>
          <a:xfrm>
            <a:off x="7369920" y="358452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81.91%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52"/>
          <p:cNvSpPr/>
          <p:nvPr/>
        </p:nvSpPr>
        <p:spPr>
          <a:xfrm>
            <a:off x="9098280" y="3566160"/>
            <a:ext cx="1782720" cy="594000"/>
          </a:xfrm>
          <a:prstGeom prst="rect">
            <a:avLst/>
          </a:prstGeom>
          <a:solidFill>
            <a:srgbClr val="F7F7F7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3"/>
          <p:cNvSpPr/>
          <p:nvPr/>
        </p:nvSpPr>
        <p:spPr>
          <a:xfrm>
            <a:off x="9153000" y="358452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13.64%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54"/>
          <p:cNvSpPr/>
          <p:nvPr/>
        </p:nvSpPr>
        <p:spPr>
          <a:xfrm>
            <a:off x="713160" y="4160520"/>
            <a:ext cx="19198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5"/>
          <p:cNvSpPr/>
          <p:nvPr/>
        </p:nvSpPr>
        <p:spPr>
          <a:xfrm>
            <a:off x="768240" y="4178880"/>
            <a:ext cx="18100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Random Allocation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56"/>
          <p:cNvSpPr/>
          <p:nvPr/>
        </p:nvSpPr>
        <p:spPr>
          <a:xfrm>
            <a:off x="2633400" y="4160520"/>
            <a:ext cx="141696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7"/>
          <p:cNvSpPr/>
          <p:nvPr/>
        </p:nvSpPr>
        <p:spPr>
          <a:xfrm>
            <a:off x="2688480" y="4178880"/>
            <a:ext cx="130716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8.963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8"/>
          <p:cNvSpPr/>
          <p:nvPr/>
        </p:nvSpPr>
        <p:spPr>
          <a:xfrm>
            <a:off x="4050720" y="4160520"/>
            <a:ext cx="15724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9"/>
          <p:cNvSpPr/>
          <p:nvPr/>
        </p:nvSpPr>
        <p:spPr>
          <a:xfrm>
            <a:off x="4105800" y="4178880"/>
            <a:ext cx="1462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0.1990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60"/>
          <p:cNvSpPr/>
          <p:nvPr/>
        </p:nvSpPr>
        <p:spPr>
          <a:xfrm>
            <a:off x="5623560" y="4160520"/>
            <a:ext cx="169128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1"/>
          <p:cNvSpPr/>
          <p:nvPr/>
        </p:nvSpPr>
        <p:spPr>
          <a:xfrm>
            <a:off x="5678280" y="4178880"/>
            <a:ext cx="15814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1.537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62"/>
          <p:cNvSpPr/>
          <p:nvPr/>
        </p:nvSpPr>
        <p:spPr>
          <a:xfrm>
            <a:off x="7315200" y="4160520"/>
            <a:ext cx="178272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3"/>
          <p:cNvSpPr/>
          <p:nvPr/>
        </p:nvSpPr>
        <p:spPr>
          <a:xfrm>
            <a:off x="7369920" y="417888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65.10%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64"/>
          <p:cNvSpPr/>
          <p:nvPr/>
        </p:nvSpPr>
        <p:spPr>
          <a:xfrm>
            <a:off x="9098280" y="4160520"/>
            <a:ext cx="1782720" cy="594000"/>
          </a:xfrm>
          <a:prstGeom prst="rect">
            <a:avLst/>
          </a:prstGeom>
          <a:solidFill>
            <a:srgbClr val="FFFFFF"/>
          </a:solidFill>
          <a:ln w="6985">
            <a:solidFill>
              <a:srgbClr val="BDBDB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65"/>
          <p:cNvSpPr/>
          <p:nvPr/>
        </p:nvSpPr>
        <p:spPr>
          <a:xfrm>
            <a:off x="9153000" y="4178880"/>
            <a:ext cx="167292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29.85%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66"/>
          <p:cNvSpPr/>
          <p:nvPr/>
        </p:nvSpPr>
        <p:spPr>
          <a:xfrm>
            <a:off x="768240" y="5074920"/>
            <a:ext cx="5193360" cy="776880"/>
          </a:xfrm>
          <a:prstGeom prst="roundRect">
            <a:avLst>
              <a:gd name="adj" fmla="val 11765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7"/>
          <p:cNvSpPr/>
          <p:nvPr/>
        </p:nvSpPr>
        <p:spPr>
          <a:xfrm>
            <a:off x="969120" y="5221080"/>
            <a:ext cx="4791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WHAT SAC DOES BEST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8"/>
          <p:cNvSpPr/>
          <p:nvPr/>
        </p:nvSpPr>
        <p:spPr>
          <a:xfrm>
            <a:off x="969120" y="5468040"/>
            <a:ext cx="4791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Energy efficiency; all configured constraints are satisfied.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69"/>
          <p:cNvSpPr/>
          <p:nvPr/>
        </p:nvSpPr>
        <p:spPr>
          <a:xfrm>
            <a:off x="6144840" y="5074920"/>
            <a:ext cx="5193360" cy="776880"/>
          </a:xfrm>
          <a:prstGeom prst="roundRect">
            <a:avLst>
              <a:gd name="adj" fmla="val 11765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70"/>
          <p:cNvSpPr/>
          <p:nvPr/>
        </p:nvSpPr>
        <p:spPr>
          <a:xfrm>
            <a:off x="6346080" y="5221080"/>
            <a:ext cx="4791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WHERE EQUAL ALLOCATION LEADS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1"/>
          <p:cNvSpPr/>
          <p:nvPr/>
        </p:nvSpPr>
        <p:spPr>
          <a:xfrm>
            <a:off x="6346080" y="5468040"/>
            <a:ext cx="47912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Semantic utility, goodput, task completion and lower deadline misses.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16 • SERVICE PERFORMANCE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Task-value and rate metrics remain a trade-off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Equal allocation delivered slightly more service in this run; SAC traded some service performance for lower energy use.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0" descr="/mnt/data/ppt_assets/semantic_utility_comparison.png"/>
          <p:cNvPicPr/>
          <p:nvPr/>
        </p:nvPicPr>
        <p:blipFill>
          <a:blip r:embed="rId3"/>
          <a:stretch/>
        </p:blipFill>
        <p:spPr>
          <a:xfrm>
            <a:off x="640080" y="1843200"/>
            <a:ext cx="5440320" cy="34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Image 1" descr="/mnt/data/ppt_assets/throughput_comparison.png"/>
          <p:cNvPicPr/>
          <p:nvPr/>
        </p:nvPicPr>
        <p:blipFill>
          <a:blip r:embed="rId4"/>
          <a:stretch/>
        </p:blipFill>
        <p:spPr>
          <a:xfrm>
            <a:off x="6153840" y="2044800"/>
            <a:ext cx="5394600" cy="299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6"/>
          <p:cNvSpPr/>
          <p:nvPr/>
        </p:nvSpPr>
        <p:spPr>
          <a:xfrm>
            <a:off x="822960" y="5367600"/>
            <a:ext cx="5074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Mean semantic utility: SAC 0.2561  •  Equal 0.2760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7"/>
          <p:cNvSpPr/>
          <p:nvPr/>
        </p:nvSpPr>
        <p:spPr>
          <a:xfrm>
            <a:off x="6336720" y="5367600"/>
            <a:ext cx="5056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Mean goodput: SAC 2.02 Mb/s  •  Equal 2.18 Mb/s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8"/>
          <p:cNvSpPr/>
          <p:nvPr/>
        </p:nvSpPr>
        <p:spPr>
          <a:xfrm>
            <a:off x="804600" y="5742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Goodput is useful delivered bits per simulated time in this environment; it is not a measurement from a physical wireless testbed.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17 • ENERGY EFFICIENCY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SAC reduces energy per episode and improves bits per joule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clearest advantage in the saved evaluation is energy efficiency compared with the equal-allocation baseline.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Image 0" descr="/mnt/data/ppt_assets/energy_efficiency_comparison.png"/>
          <p:cNvPicPr/>
          <p:nvPr/>
        </p:nvPicPr>
        <p:blipFill>
          <a:blip r:embed="rId3"/>
          <a:stretch/>
        </p:blipFill>
        <p:spPr>
          <a:xfrm>
            <a:off x="740520" y="1700640"/>
            <a:ext cx="6876000" cy="429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Shape 6"/>
          <p:cNvSpPr/>
          <p:nvPr/>
        </p:nvSpPr>
        <p:spPr>
          <a:xfrm>
            <a:off x="7973640" y="1828800"/>
            <a:ext cx="3401280" cy="941400"/>
          </a:xfrm>
          <a:prstGeom prst="roundRect">
            <a:avLst>
              <a:gd name="adj" fmla="val 9709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8174880" y="19749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ENERGY CONSUMPTION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8174880" y="2258640"/>
            <a:ext cx="29988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SAC: 0.257 J  •  Equal: 0.500 J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9"/>
          <p:cNvSpPr/>
          <p:nvPr/>
        </p:nvSpPr>
        <p:spPr>
          <a:xfrm>
            <a:off x="7973640" y="2962800"/>
            <a:ext cx="3401280" cy="941400"/>
          </a:xfrm>
          <a:prstGeom prst="roundRect">
            <a:avLst>
              <a:gd name="adj" fmla="val 970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0"/>
          <p:cNvSpPr/>
          <p:nvPr/>
        </p:nvSpPr>
        <p:spPr>
          <a:xfrm>
            <a:off x="8174880" y="31089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ENERGY SAVING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1"/>
          <p:cNvSpPr/>
          <p:nvPr/>
        </p:nvSpPr>
        <p:spPr>
          <a:xfrm>
            <a:off x="8174880" y="3392280"/>
            <a:ext cx="29988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≈48.6% lower than equal allocation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2"/>
          <p:cNvSpPr/>
          <p:nvPr/>
        </p:nvSpPr>
        <p:spPr>
          <a:xfrm>
            <a:off x="7973640" y="4096440"/>
            <a:ext cx="3401280" cy="941400"/>
          </a:xfrm>
          <a:prstGeom prst="roundRect">
            <a:avLst>
              <a:gd name="adj" fmla="val 9709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3"/>
          <p:cNvSpPr/>
          <p:nvPr/>
        </p:nvSpPr>
        <p:spPr>
          <a:xfrm>
            <a:off x="8174880" y="4242960"/>
            <a:ext cx="2998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ENERGY EFFICIENCY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4"/>
          <p:cNvSpPr/>
          <p:nvPr/>
        </p:nvSpPr>
        <p:spPr>
          <a:xfrm>
            <a:off x="8174880" y="4526280"/>
            <a:ext cx="299880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3.92 × 10⁶ bits/J for SAC; +79.8% vs equal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5"/>
          <p:cNvSpPr/>
          <p:nvPr/>
        </p:nvSpPr>
        <p:spPr>
          <a:xfrm>
            <a:off x="8028360" y="5285160"/>
            <a:ext cx="32731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This gain does not imply the highest goodput or task completion: the objective includes an energy penalty, so the comparison illustrates a multi-objective trade-off.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18 • QOS AND FEASIBILITY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Deadline misses, latency and fairness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meets the configured hard constraints, but equal allocation performs better on several task-delivery measures.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0" descr="/mnt/data/ppt_assets/latency_comparison.png"/>
          <p:cNvPicPr/>
          <p:nvPr/>
        </p:nvPicPr>
        <p:blipFill>
          <a:blip r:embed="rId3"/>
          <a:stretch/>
        </p:blipFill>
        <p:spPr>
          <a:xfrm>
            <a:off x="676800" y="1968120"/>
            <a:ext cx="5440320" cy="302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Image 1" descr="/mnt/data/ppt_assets/fairness_comparison.png"/>
          <p:cNvPicPr/>
          <p:nvPr/>
        </p:nvPicPr>
        <p:blipFill>
          <a:blip r:embed="rId4"/>
          <a:stretch/>
        </p:blipFill>
        <p:spPr>
          <a:xfrm>
            <a:off x="6172200" y="1798920"/>
            <a:ext cx="5376240" cy="336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 6"/>
          <p:cNvSpPr/>
          <p:nvPr/>
        </p:nvSpPr>
        <p:spPr>
          <a:xfrm>
            <a:off x="804600" y="5285160"/>
            <a:ext cx="5175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SAC: 2.06 frames latency  •  16.94% deadline-miss rate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6327720" y="5285160"/>
            <a:ext cx="5074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Jain fairness: SAC 0.794  •  Equal 0.833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8"/>
          <p:cNvSpPr/>
          <p:nvPr/>
        </p:nvSpPr>
        <p:spPr>
          <a:xfrm>
            <a:off x="850320" y="5687640"/>
            <a:ext cx="2742840" cy="365400"/>
          </a:xfrm>
          <a:prstGeom prst="roundRect">
            <a:avLst>
              <a:gd name="adj" fmla="val 30000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9"/>
          <p:cNvSpPr/>
          <p:nvPr/>
        </p:nvSpPr>
        <p:spPr>
          <a:xfrm>
            <a:off x="923400" y="5706000"/>
            <a:ext cx="2596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Power violations: 0 across policies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0"/>
          <p:cNvSpPr/>
          <p:nvPr/>
        </p:nvSpPr>
        <p:spPr>
          <a:xfrm>
            <a:off x="3749040" y="5687640"/>
            <a:ext cx="2880000" cy="365400"/>
          </a:xfrm>
          <a:prstGeom prst="roundRect">
            <a:avLst>
              <a:gd name="adj" fmla="val 30000"/>
            </a:avLst>
          </a:prstGeom>
          <a:solidFill>
            <a:srgbClr val="E8F0F1"/>
          </a:solidFill>
          <a:ln w="889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1"/>
          <p:cNvSpPr/>
          <p:nvPr/>
        </p:nvSpPr>
        <p:spPr>
          <a:xfrm>
            <a:off x="3822120" y="5706000"/>
            <a:ext cx="2733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225E68"/>
                </a:solidFill>
                <a:effectLst/>
                <a:uFillTx/>
                <a:latin typeface="Arial"/>
                <a:ea typeface="Arial"/>
              </a:rPr>
              <a:t>Airtime violations: 0 across policies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2"/>
          <p:cNvSpPr/>
          <p:nvPr/>
        </p:nvSpPr>
        <p:spPr>
          <a:xfrm>
            <a:off x="6839640" y="56876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Lower deadline-miss rate and higher fairness are better; these favour equal allocation in the saved run.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19 • DISCUSSION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What the experiment demonstrates—and what it does not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project is a working simulation prototype; the results should be interpreted within its modelling assumptions.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6"/>
          <p:cNvSpPr/>
          <p:nvPr/>
        </p:nvSpPr>
        <p:spPr>
          <a:xfrm>
            <a:off x="749880" y="1847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E8F0F1"/>
          </a:solidFill>
          <a:ln w="1016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951120" y="199332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SUPPORTED BY SAVED RESULTS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8"/>
          <p:cNvSpPr/>
          <p:nvPr/>
        </p:nvSpPr>
        <p:spPr>
          <a:xfrm>
            <a:off x="951120" y="2377440"/>
            <a:ext cx="301716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20,000 SAC timesteps completed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20 held-out test seeds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Energy per episode falls by ≈48.6% vs equal allocation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Zero recorded power/airtime violations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4389120" y="1847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0"/>
          <p:cNvSpPr/>
          <p:nvPr/>
        </p:nvSpPr>
        <p:spPr>
          <a:xfrm>
            <a:off x="4590360" y="199332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MODELLING LIMITATIONS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1"/>
          <p:cNvSpPr/>
          <p:nvPr/>
        </p:nvSpPr>
        <p:spPr>
          <a:xfrm>
            <a:off x="4590360" y="2377440"/>
            <a:ext cx="301716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Synthetic task-importance proxy; no semantic encoder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Ideal SIC and perfect simplified channel model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Fixed NOMA pairing / subchannel assignment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Independent frame-by-frame fading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Simulation only; not real network deployment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2"/>
          <p:cNvSpPr/>
          <p:nvPr/>
        </p:nvSpPr>
        <p:spPr>
          <a:xfrm>
            <a:off x="8028360" y="1847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F0F0F0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3"/>
          <p:cNvSpPr/>
          <p:nvPr/>
        </p:nvSpPr>
        <p:spPr>
          <a:xfrm>
            <a:off x="8229600" y="199332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NEXT EXPERIMENTS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4"/>
          <p:cNvSpPr/>
          <p:nvPr/>
        </p:nvSpPr>
        <p:spPr>
          <a:xfrm>
            <a:off x="8229600" y="2377440"/>
            <a:ext cx="301716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Tune reward weights and train longer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Test more channel/task scenarios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Add imperfect SIC and correlated fading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Compare against more optimization baselines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• Explore dynamic pairing and real semantic models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5"/>
          <p:cNvSpPr/>
          <p:nvPr/>
        </p:nvSpPr>
        <p:spPr>
          <a:xfrm>
            <a:off x="813960" y="4709160"/>
            <a:ext cx="105609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1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Conclusion from current evidence: SAC improves energy efficiency, but does not dominate equal allocation across semantic utility, goodput, completion, deadline misses or fairness.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6"/>
          <p:cNvSpPr/>
          <p:nvPr/>
        </p:nvSpPr>
        <p:spPr>
          <a:xfrm>
            <a:off x="813960" y="557784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The next research step is to tune the service–energy trade-off and re-evaluate on broader held-out scenarios—not to claim universal superiority.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 0"/>
          <p:cNvSpPr/>
          <p:nvPr/>
        </p:nvSpPr>
        <p:spPr>
          <a:xfrm>
            <a:off x="621720" y="27432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spc="11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20 • REFERENCES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"/>
          <p:cNvSpPr/>
          <p:nvPr/>
        </p:nvSpPr>
        <p:spPr>
          <a:xfrm>
            <a:off x="621720" y="5943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Selected research and implementation resources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2"/>
          <p:cNvSpPr/>
          <p:nvPr/>
        </p:nvSpPr>
        <p:spPr>
          <a:xfrm>
            <a:off x="640080" y="1197720"/>
            <a:ext cx="109267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Related literature and tools identified in the project documentation; references are background sources, not proof of novelty.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3"/>
          <p:cNvSpPr/>
          <p:nvPr/>
        </p:nvSpPr>
        <p:spPr>
          <a:xfrm>
            <a:off x="621720" y="6473880"/>
            <a:ext cx="10954440" cy="360"/>
          </a:xfrm>
          <a:prstGeom prst="line">
            <a:avLst/>
          </a:prstGeom>
          <a:ln w="1016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4"/>
          <p:cNvSpPr/>
          <p:nvPr/>
        </p:nvSpPr>
        <p:spPr>
          <a:xfrm>
            <a:off x="640080" y="6537960"/>
            <a:ext cx="841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0" u="none" strike="noStrike" spc="3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SAC • SEMANTIC-AWARE NOMA–OFDMA RESOURCE ALLOCATION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5"/>
          <p:cNvSpPr/>
          <p:nvPr/>
        </p:nvSpPr>
        <p:spPr>
          <a:xfrm>
            <a:off x="11118960" y="65106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6"/>
          <p:cNvSpPr/>
          <p:nvPr/>
        </p:nvSpPr>
        <p:spPr>
          <a:xfrm>
            <a:off x="813960" y="190188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7"/>
          <p:cNvSpPr/>
          <p:nvPr/>
        </p:nvSpPr>
        <p:spPr>
          <a:xfrm>
            <a:off x="1124640" y="179208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1. Haarnoja, T. et al. “Soft Actor-Critic: Off-Policy Maximum Entropy Deep Reinforcement Learning with a Stochastic Actor.” ICML, 2018. arXiv:1801.01290.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8"/>
          <p:cNvSpPr/>
          <p:nvPr/>
        </p:nvSpPr>
        <p:spPr>
          <a:xfrm>
            <a:off x="813960" y="253296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9"/>
          <p:cNvSpPr/>
          <p:nvPr/>
        </p:nvSpPr>
        <p:spPr>
          <a:xfrm>
            <a:off x="1124640" y="242316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2. Zhang, H. et al. “DRL-Driven Dynamic Resource Allocation for Task-Oriented Semantic Communication.” IEEE Transactions on Communications, 71(7), 3992–4004, 2023. DOI: 10.1109/TCOMM.2023.3274145.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0"/>
          <p:cNvSpPr/>
          <p:nvPr/>
        </p:nvSpPr>
        <p:spPr>
          <a:xfrm>
            <a:off x="813960" y="316368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1"/>
          <p:cNvSpPr/>
          <p:nvPr/>
        </p:nvSpPr>
        <p:spPr>
          <a:xfrm>
            <a:off x="1124640" y="305424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3. Pi, P. &amp; Ren, G. “Soft Actor–Critic Optimization for Efficient NOMA Uplink in Intelligent Vehicular Networks.” Physical Communication, 68, 102581, 2025. DOI: 10.1016/j.phycom.2024.102581.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2"/>
          <p:cNvSpPr/>
          <p:nvPr/>
        </p:nvSpPr>
        <p:spPr>
          <a:xfrm>
            <a:off x="813960" y="379476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3"/>
          <p:cNvSpPr/>
          <p:nvPr/>
        </p:nvSpPr>
        <p:spPr>
          <a:xfrm>
            <a:off x="1124640" y="368496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4. Zhang, Y. et al. “Reinforcement Learning-Based Resource Allocation for Multi-Task Multi-Codebook Semantic Communications.” Physical Communication, 75, 102982, 2026. DOI: 10.1016/j.phycom.2025.102982.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4"/>
          <p:cNvSpPr/>
          <p:nvPr/>
        </p:nvSpPr>
        <p:spPr>
          <a:xfrm>
            <a:off x="813960" y="442584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5"/>
          <p:cNvSpPr/>
          <p:nvPr/>
        </p:nvSpPr>
        <p:spPr>
          <a:xfrm>
            <a:off x="1124640" y="431604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5. “DRL-Driven Resource Allocation for Hybrid NOMA-Assisted Semantic Communication Networks.” IEEE Transactions on Wireless Communications, 2026. DOI: 10.1109/TWC.2026.3686618.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6"/>
          <p:cNvSpPr/>
          <p:nvPr/>
        </p:nvSpPr>
        <p:spPr>
          <a:xfrm>
            <a:off x="813960" y="5056560"/>
            <a:ext cx="182520" cy="182520"/>
          </a:xfrm>
          <a:prstGeom prst="ellipse">
            <a:avLst/>
          </a:prstGeom>
          <a:solidFill>
            <a:srgbClr val="225E68"/>
          </a:solidFill>
          <a:ln w="635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7"/>
          <p:cNvSpPr/>
          <p:nvPr/>
        </p:nvSpPr>
        <p:spPr>
          <a:xfrm>
            <a:off x="1124640" y="494676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6. Stable-Baselines3 documentation: SAC algorithm; Gymnasium API; PyTorch. Used for implementation and simulation tooling.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8"/>
          <p:cNvSpPr/>
          <p:nvPr/>
        </p:nvSpPr>
        <p:spPr>
          <a:xfrm>
            <a:off x="822960" y="580644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i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Paper details and DOI links are listed for follow-up reading; review the full papers before asserting a formal research gap.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 0"/>
          <p:cNvSpPr/>
          <p:nvPr/>
        </p:nvSpPr>
        <p:spPr>
          <a:xfrm>
            <a:off x="731520" y="43884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FINAL PROJECT PRESENTATION  |  2026–27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"/>
          <p:cNvSpPr/>
          <p:nvPr/>
        </p:nvSpPr>
        <p:spPr>
          <a:xfrm>
            <a:off x="749880" y="1389960"/>
            <a:ext cx="63090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Thank you.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"/>
          <p:cNvSpPr/>
          <p:nvPr/>
        </p:nvSpPr>
        <p:spPr>
          <a:xfrm>
            <a:off x="767880" y="2331720"/>
            <a:ext cx="1005840" cy="360"/>
          </a:xfrm>
          <a:prstGeom prst="line">
            <a:avLst/>
          </a:prstGeom>
          <a:ln w="29210">
            <a:solidFill>
              <a:srgbClr val="225E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"/>
          <p:cNvSpPr/>
          <p:nvPr/>
        </p:nvSpPr>
        <p:spPr>
          <a:xfrm>
            <a:off x="768240" y="2578680"/>
            <a:ext cx="63090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Questions &amp; Discussion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4"/>
          <p:cNvSpPr/>
          <p:nvPr/>
        </p:nvSpPr>
        <p:spPr>
          <a:xfrm>
            <a:off x="768240" y="3264480"/>
            <a:ext cx="6034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Soft Actor-Critic-Based Semantic-Aware Power and Time Allocation for Hybrid NOMA–OFDMA Networks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5"/>
          <p:cNvSpPr/>
          <p:nvPr/>
        </p:nvSpPr>
        <p:spPr>
          <a:xfrm>
            <a:off x="768240" y="425196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B. Sri. Srujana  •  S. Tejitha  •  M. Gnaneshwari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6"/>
          <p:cNvSpPr/>
          <p:nvPr/>
        </p:nvSpPr>
        <p:spPr>
          <a:xfrm>
            <a:off x="768240" y="4681800"/>
            <a:ext cx="5943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Department of Electronics &amp; Communication Engineering  •  KLEF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7"/>
          <p:cNvSpPr/>
          <p:nvPr/>
        </p:nvSpPr>
        <p:spPr>
          <a:xfrm>
            <a:off x="7726680" y="1042560"/>
            <a:ext cx="3748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 spc="79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HYBRID NOMA–OFDMA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8"/>
          <p:cNvSpPr/>
          <p:nvPr/>
        </p:nvSpPr>
        <p:spPr>
          <a:xfrm>
            <a:off x="7799760" y="1554480"/>
            <a:ext cx="3584160" cy="1170000"/>
          </a:xfrm>
          <a:prstGeom prst="roundRect">
            <a:avLst>
              <a:gd name="adj" fmla="val 7813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9"/>
          <p:cNvSpPr/>
          <p:nvPr/>
        </p:nvSpPr>
        <p:spPr>
          <a:xfrm>
            <a:off x="8001000" y="1700640"/>
            <a:ext cx="3181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OFDMA SUBCHANNEL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0"/>
          <p:cNvSpPr/>
          <p:nvPr/>
        </p:nvSpPr>
        <p:spPr>
          <a:xfrm>
            <a:off x="8001000" y="2030040"/>
            <a:ext cx="3181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NOMA pairs 1 and 2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1"/>
          <p:cNvSpPr/>
          <p:nvPr/>
        </p:nvSpPr>
        <p:spPr>
          <a:xfrm>
            <a:off x="7799760" y="3017520"/>
            <a:ext cx="3584160" cy="1170000"/>
          </a:xfrm>
          <a:prstGeom prst="roundRect">
            <a:avLst>
              <a:gd name="adj" fmla="val 7813"/>
            </a:avLst>
          </a:prstGeom>
          <a:solidFill>
            <a:srgbClr val="F7F7F7"/>
          </a:solidFill>
          <a:ln w="10160">
            <a:solidFill>
              <a:srgbClr val="A9A9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2"/>
          <p:cNvSpPr/>
          <p:nvPr/>
        </p:nvSpPr>
        <p:spPr>
          <a:xfrm>
            <a:off x="8001000" y="3163680"/>
            <a:ext cx="3181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1717"/>
                </a:solidFill>
                <a:effectLst/>
                <a:uFillTx/>
                <a:latin typeface="Arial"/>
                <a:ea typeface="Arial"/>
              </a:rPr>
              <a:t>OFDMA SUBCHANNEL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3"/>
          <p:cNvSpPr/>
          <p:nvPr/>
        </p:nvSpPr>
        <p:spPr>
          <a:xfrm>
            <a:off x="8001000" y="3493080"/>
            <a:ext cx="3181680" cy="55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2424"/>
                </a:solidFill>
                <a:effectLst/>
                <a:uFillTx/>
                <a:latin typeface="Arial"/>
                <a:ea typeface="Arial"/>
              </a:rPr>
              <a:t>NOMA pairs 3 and 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4"/>
          <p:cNvSpPr/>
          <p:nvPr/>
        </p:nvSpPr>
        <p:spPr>
          <a:xfrm flipH="1">
            <a:off x="8001000" y="4315680"/>
            <a:ext cx="1554480" cy="603720"/>
          </a:xfrm>
          <a:prstGeom prst="line">
            <a:avLst/>
          </a:prstGeom>
          <a:ln w="10160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5"/>
          <p:cNvSpPr/>
          <p:nvPr/>
        </p:nvSpPr>
        <p:spPr>
          <a:xfrm>
            <a:off x="7909560" y="482796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6"/>
          <p:cNvSpPr/>
          <p:nvPr/>
        </p:nvSpPr>
        <p:spPr>
          <a:xfrm>
            <a:off x="7726680" y="50382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7"/>
          <p:cNvSpPr/>
          <p:nvPr/>
        </p:nvSpPr>
        <p:spPr>
          <a:xfrm flipH="1">
            <a:off x="8732520" y="4315680"/>
            <a:ext cx="822960" cy="1079280"/>
          </a:xfrm>
          <a:prstGeom prst="line">
            <a:avLst/>
          </a:prstGeom>
          <a:ln w="10160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8"/>
          <p:cNvSpPr/>
          <p:nvPr/>
        </p:nvSpPr>
        <p:spPr>
          <a:xfrm>
            <a:off x="8641080" y="530352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9"/>
          <p:cNvSpPr/>
          <p:nvPr/>
        </p:nvSpPr>
        <p:spPr>
          <a:xfrm>
            <a:off x="8458200" y="55137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20"/>
          <p:cNvSpPr/>
          <p:nvPr/>
        </p:nvSpPr>
        <p:spPr>
          <a:xfrm flipH="1">
            <a:off x="9464040" y="4315680"/>
            <a:ext cx="91440" cy="603720"/>
          </a:xfrm>
          <a:prstGeom prst="line">
            <a:avLst/>
          </a:prstGeom>
          <a:ln w="10160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21"/>
          <p:cNvSpPr/>
          <p:nvPr/>
        </p:nvSpPr>
        <p:spPr>
          <a:xfrm>
            <a:off x="9372600" y="482796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2"/>
          <p:cNvSpPr/>
          <p:nvPr/>
        </p:nvSpPr>
        <p:spPr>
          <a:xfrm>
            <a:off x="9189720" y="50382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3"/>
          <p:cNvSpPr/>
          <p:nvPr/>
        </p:nvSpPr>
        <p:spPr>
          <a:xfrm>
            <a:off x="9555480" y="4315680"/>
            <a:ext cx="640080" cy="1079280"/>
          </a:xfrm>
          <a:prstGeom prst="line">
            <a:avLst/>
          </a:prstGeom>
          <a:ln w="10160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24"/>
          <p:cNvSpPr/>
          <p:nvPr/>
        </p:nvSpPr>
        <p:spPr>
          <a:xfrm>
            <a:off x="10104120" y="530352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25"/>
          <p:cNvSpPr/>
          <p:nvPr/>
        </p:nvSpPr>
        <p:spPr>
          <a:xfrm>
            <a:off x="9921240" y="551376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U4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26"/>
          <p:cNvSpPr/>
          <p:nvPr/>
        </p:nvSpPr>
        <p:spPr>
          <a:xfrm>
            <a:off x="9555480" y="4315680"/>
            <a:ext cx="1371600" cy="603720"/>
          </a:xfrm>
          <a:prstGeom prst="line">
            <a:avLst/>
          </a:prstGeom>
          <a:ln w="10160">
            <a:solidFill>
              <a:srgbClr val="A0A0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7"/>
          <p:cNvSpPr/>
          <p:nvPr/>
        </p:nvSpPr>
        <p:spPr>
          <a:xfrm>
            <a:off x="10835640" y="4827960"/>
            <a:ext cx="182520" cy="182520"/>
          </a:xfrm>
          <a:prstGeom prst="ellipse">
            <a:avLst/>
          </a:prstGeom>
          <a:solidFill>
            <a:srgbClr val="225E68"/>
          </a:solidFill>
          <a:ln w="7620">
            <a:solidFill>
              <a:srgbClr val="1717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8"/>
          <p:cNvSpPr/>
          <p:nvPr/>
        </p:nvSpPr>
        <p:spPr>
          <a:xfrm>
            <a:off x="10652760" y="50382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U5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9"/>
          <p:cNvSpPr/>
          <p:nvPr/>
        </p:nvSpPr>
        <p:spPr>
          <a:xfrm>
            <a:off x="7589520" y="5989320"/>
            <a:ext cx="40687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Power and airtime are learned jointly; constraints remain feasible by construction.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2933</Words>
  <Application>Microsoft Office PowerPoint</Application>
  <PresentationFormat>Widescreen</PresentationFormat>
  <Paragraphs>470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Koneru Lakshmaiah Education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Sivaraju Tejitha</dc:creator>
  <cp:lastModifiedBy>Sivaraju Tejitha</cp:lastModifiedBy>
  <cp:revision>1</cp:revision>
  <dcterms:modified xsi:type="dcterms:W3CDTF">2026-10-15T03:06:07Z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2026-10-15T01:05:05Z</dcterms:created>
  <dc:creator>B. Sri. Srujana, S. Tejitha, M. Gnaneshwari</dc:creator>
  <dc:description/>
  <dc:language>en-US</dc:language>
  <cp:lastModifiedBy>B. Sri. Srujana, S. Tejitha, M. Gnaneshwari</cp:lastModifiedBy>
  <dcterms:modified xsi:type="dcterms:W3CDTF">2026-10-15T01:05:05Z</dcterms:modified>
  <cp:revision>1</cp:revision>
  <dc:subject>Machine Learning final project defense</dc:subject>
  <dc:title>SAC-Based Semantic-Aware Power and Time Allocation for Hybrid NOMA-OFDMA Networks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