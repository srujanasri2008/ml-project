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033" autoAdjust="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956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'Soft Actor-Critic based semantic-aware power and time allocation from hybrid NOMA and OFDMA'. In simple words: a mobile tower has limited power and time, and many users want data. We train an AI agent to decide how to share these resources smartly, giving more care to important users. This is a simulation-based B.Tech project. Our guide is Dr N Lava Prasad. Team: B. Sri Srujana (2520040005), S. Tejitha (2520040008) and M. Gnaneshwari (2520040020).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a wireless network every user is different. Some are near the tower and have strong signal, some are far. Some have a lot of data to download and some carry very important traffic. But the tower has only limited power, time and bandwidth. If we simply split everything equally, we waste resources and important users may wait longer. So our question is: can an AI agent learn to share power and time smartly, giving priority to important users? Note: this is a simulation, we do not control any real network.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the terms. OFDMA: users take turns, each gets a separate slice, so there is no interference. NOMA: two users share the same slice at the same time, but with different power levels; the receiver separates them using something called SIC. Hybrid means we use both and let the system decide the mix. SAC, Soft Actor-Critic, is a reinforcement learning method: the agent tries actions, gets a reward, and improves; the 'soft' part means it keeps exploring. Semantic-aware means important data gets more care. In our prototype we use the user priority from 1 to 5 as a proxy for importance; we have not built a real semantic encoder.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proposed method. Step 1: the agent looks at the state, which has six numbers per user: channel quality, priority, remaining data demand, distance, available power and time slots. Step 2: the SAC agent decides. The actor proposes an allocation, two critics judge how good it is, and a replay memory lets it learn from past experience. Step 3: the action is the time share of each user pair, each user's power, how to split OFDMA time, and how much time to use NOMA. Step 4: the simulated network serves the users. Step 5: we compute a reward. It is high for good weighted throughput, fairness and meeting priority targets, and it is reduced for delay and wasted power. The agent repeats this loop thousands of times and slowly learns a good policy. Avoid the reward formula unless asked; the weights are our design choice.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implementation workflow in six steps. One: we prepared a synthetic dataset of 8 users, plus 6-user and 10-user versions for extra testing. Two: we built a Gymnasium simulator where users are grouped in fixed pairs. Three: we designed the reward. Four: we trained the SAC agent with Stable-Baselines3, for 20,000 steps for the 8-user case and 5,000 steps for the 6 and 10 user cases. Five: we evaluated the trained agent against an equal-share baseline using the same 20 random episodes, so the comparison is fair. Six: a small Flask dashboard displays the results. Everything runs in a Google Colab notebook.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simulation setup. The table is the 8-user dataset: each user has a channel quality, a priority from 1 to 5, a data demand in megabytes and a distance from the tower. The data is synthetic, not from a real operator. Users are grouped into four fixed pairs, and the simulated system has 1 MHz bandwidth and 4 watts total power. We also tested 6-user and 10-user cases, with a separate SAC model for each because the input size changes. Our baseline gives equal time and equal power and uses OFDMA only, so we can see whether the learned policy really helps.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results from our project folder. The graph shows the return, that is the total reward, of the baseline in blue and the SAC agent in orange over 20 evaluation episodes. The SAC line stays above the baseline in every episode. On average SAC scored 544.03 against 522.05 for the baseline, an improvement of about 4.2 percent. SAC also had a lower estimated queue delay, 8.15 seconds against 9.56, and slightly higher throughput. Please note the delay is a simulator estimate, not a measured packet delay. Also note this graph shows evaluation episodes, not a training curve.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bar chart is also from our results folder and compares baseline and SAC for 6, 8 and 10 users. SAC wins at 8 and 10 users, but loses at 6 users; that 6-user model was trained for only 5,000 steps. In the table, delay improves for 8 and 10 users, but the priority-satisfaction score, which is the fraction of users meeting their priority rate target, is lower for SAC in all cases, for example 0.50 against 1.00 at 8 users. We report this honestly: the reward improved, but SAC does not win on every metric. The reward drops as users increase because the same 1 MHz is shared by more users. Fixing the priority trade-off is our main future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Completed so far: the dataset, the simulator with reward design, SAC training for 6, 8 and 10 users, evaluation against the baseline with saved charts and CSV files, and a Flask dashboard. Remaining work: first, tune the reward weights so priority satisfaction improves without losing throughput; second, repeat training with several random seeds and report confidence intervals, because each model was trained only once; third, replace the priority proxy with a real semantic model that measures task accuracy; fourth, make the simulator more realistic with dynamic pairing and imperfect SIC; fifth, compare with other RL and optimization methods.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SAC agent learned a working allocation policy in simulation, improved the 8-user reward by about 4.2 percent and reduced the estimated delay compared with the equal-share baseline. It does not win on every metric, so our next steps are to improve priority satisfaction and add a real semantic model.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5120640" cy="320040"/>
          </a:xfrm>
          <a:prstGeom prst="rect">
            <a:avLst/>
          </a:prstGeom>
          <a:noFill/>
          <a:ln/>
        </p:spPr>
        <p:txBody>
          <a:bodyPr wrap="square" lIns="0" tIns="0" rIns="0" bIns="0" rtlCol="0" anchor="ctr"/>
          <a:lstStyle/>
          <a:p>
            <a:pPr marL="0" indent="0">
              <a:buNone/>
            </a:pPr>
            <a:r>
              <a:rPr lang="en-US" sz="1300" dirty="0">
                <a:solidFill>
                  <a:srgbClr val="9FC5E8"/>
                </a:solidFill>
                <a:latin typeface="Calibri" pitchFamily="34" charset="0"/>
                <a:ea typeface="Calibri" pitchFamily="34" charset="-122"/>
                <a:cs typeface="Calibri" pitchFamily="34" charset="-120"/>
              </a:rPr>
              <a:t>B.Tech Project Review  |  Simulation-based study</a:t>
            </a:r>
            <a:endParaRPr lang="en-US" sz="1300" dirty="0"/>
          </a:p>
        </p:txBody>
      </p:sp>
      <p:sp>
        <p:nvSpPr>
          <p:cNvPr id="3" name="Text 1"/>
          <p:cNvSpPr txBox="1"/>
          <p:nvPr/>
        </p:nvSpPr>
        <p:spPr>
          <a:xfrm>
            <a:off x="457200" y="822960"/>
            <a:ext cx="5120640" cy="21031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Soft Actor-Critic Based Semantic-Aware Power &amp; Time Allocation from Hybrid NOMA &amp; OFDMA</a:t>
            </a:r>
            <a:endParaRPr lang="en-US" sz="2800" dirty="0"/>
          </a:p>
        </p:txBody>
      </p:sp>
      <p:sp>
        <p:nvSpPr>
          <p:cNvPr id="4" name="Text 2"/>
          <p:cNvSpPr txBox="1"/>
          <p:nvPr/>
        </p:nvSpPr>
        <p:spPr>
          <a:xfrm>
            <a:off x="457200" y="2971800"/>
            <a:ext cx="4937760" cy="548640"/>
          </a:xfrm>
          <a:prstGeom prst="rect">
            <a:avLst/>
          </a:prstGeom>
          <a:noFill/>
          <a:ln/>
        </p:spPr>
        <p:txBody>
          <a:bodyPr wrap="square" lIns="0" tIns="0" rIns="0" bIns="0" rtlCol="0" anchor="t"/>
          <a:lstStyle/>
          <a:p>
            <a:pPr marL="0" indent="0">
              <a:buNone/>
            </a:pPr>
            <a:r>
              <a:rPr lang="en-US" sz="1500" i="1" dirty="0">
                <a:solidFill>
                  <a:srgbClr val="13A89E"/>
                </a:solidFill>
                <a:latin typeface="Calibri" pitchFamily="34" charset="0"/>
                <a:ea typeface="Calibri" pitchFamily="34" charset="-122"/>
                <a:cs typeface="Calibri" pitchFamily="34" charset="-120"/>
              </a:rPr>
              <a:t>An AI agent that learns to share power and time between mobile users</a:t>
            </a:r>
            <a:endParaRPr lang="en-US" sz="1500" dirty="0"/>
          </a:p>
        </p:txBody>
      </p:sp>
      <p:sp>
        <p:nvSpPr>
          <p:cNvPr id="5" name="Shape 3"/>
          <p:cNvSpPr/>
          <p:nvPr/>
        </p:nvSpPr>
        <p:spPr>
          <a:xfrm flipH="1">
            <a:off x="6172200" y="1417320"/>
            <a:ext cx="1097280" cy="1463040"/>
          </a:xfrm>
          <a:prstGeom prst="line">
            <a:avLst/>
          </a:prstGeom>
          <a:noFill/>
          <a:ln w="25400">
            <a:solidFill>
              <a:srgbClr val="13A89E"/>
            </a:solidFill>
            <a:prstDash val="dash"/>
          </a:ln>
        </p:spPr>
      </p:sp>
      <p:sp>
        <p:nvSpPr>
          <p:cNvPr id="6" name="Shape 4"/>
          <p:cNvSpPr/>
          <p:nvPr/>
        </p:nvSpPr>
        <p:spPr>
          <a:xfrm flipH="1">
            <a:off x="6903720" y="1417320"/>
            <a:ext cx="365760" cy="1691640"/>
          </a:xfrm>
          <a:prstGeom prst="line">
            <a:avLst/>
          </a:prstGeom>
          <a:noFill/>
          <a:ln w="25400">
            <a:solidFill>
              <a:srgbClr val="13A89E"/>
            </a:solidFill>
            <a:prstDash val="dash"/>
          </a:ln>
        </p:spPr>
      </p:sp>
      <p:sp>
        <p:nvSpPr>
          <p:cNvPr id="7" name="Shape 5"/>
          <p:cNvSpPr/>
          <p:nvPr/>
        </p:nvSpPr>
        <p:spPr>
          <a:xfrm>
            <a:off x="7269480" y="1417320"/>
            <a:ext cx="411480" cy="1691640"/>
          </a:xfrm>
          <a:prstGeom prst="line">
            <a:avLst/>
          </a:prstGeom>
          <a:noFill/>
          <a:ln w="25400">
            <a:solidFill>
              <a:srgbClr val="F5A524"/>
            </a:solidFill>
            <a:prstDash val="dash"/>
          </a:ln>
        </p:spPr>
      </p:sp>
      <p:sp>
        <p:nvSpPr>
          <p:cNvPr id="8" name="Shape 6"/>
          <p:cNvSpPr/>
          <p:nvPr/>
        </p:nvSpPr>
        <p:spPr>
          <a:xfrm>
            <a:off x="7269480" y="1417320"/>
            <a:ext cx="1143000" cy="1463040"/>
          </a:xfrm>
          <a:prstGeom prst="line">
            <a:avLst/>
          </a:prstGeom>
          <a:noFill/>
          <a:ln w="25400">
            <a:solidFill>
              <a:srgbClr val="F5A524"/>
            </a:solidFill>
            <a:prstDash val="dash"/>
          </a:ln>
        </p:spPr>
      </p:sp>
      <p:sp>
        <p:nvSpPr>
          <p:cNvPr id="9" name="Shape 7"/>
          <p:cNvSpPr/>
          <p:nvPr/>
        </p:nvSpPr>
        <p:spPr>
          <a:xfrm>
            <a:off x="6263640" y="502920"/>
            <a:ext cx="2011680" cy="1828800"/>
          </a:xfrm>
          <a:prstGeom prst="ellipse">
            <a:avLst/>
          </a:prstGeom>
          <a:solidFill>
            <a:srgbClr val="0B2545">
              <a:alpha val="0"/>
            </a:srgbClr>
          </a:solidFill>
          <a:ln w="12700">
            <a:solidFill>
              <a:srgbClr val="2A5A8C"/>
            </a:solidFill>
            <a:prstDash val="sysDot"/>
          </a:ln>
        </p:spPr>
      </p:sp>
      <p:sp>
        <p:nvSpPr>
          <p:cNvPr id="10" name="Shape 8"/>
          <p:cNvSpPr/>
          <p:nvPr/>
        </p:nvSpPr>
        <p:spPr>
          <a:xfrm>
            <a:off x="5888736" y="2596896"/>
            <a:ext cx="566928" cy="566928"/>
          </a:xfrm>
          <a:prstGeom prst="ellipse">
            <a:avLst/>
          </a:prstGeom>
          <a:solidFill>
            <a:srgbClr val="13A89E"/>
          </a:solidFill>
          <a:ln w="12700">
            <a:solidFill>
              <a:srgbClr val="13A89E"/>
            </a:solidFill>
            <a:prstDash val="solid"/>
          </a:ln>
        </p:spPr>
      </p:sp>
      <p:pic>
        <p:nvPicPr>
          <p:cNvPr id="11" name="Image 0" descr="preencoded.png"/>
          <p:cNvPicPr>
            <a:picLocks noChangeAspect="1"/>
          </p:cNvPicPr>
          <p:nvPr/>
        </p:nvPicPr>
        <p:blipFill>
          <a:blip r:embed="rId3"/>
          <a:stretch>
            <a:fillRect/>
          </a:stretch>
        </p:blipFill>
        <p:spPr>
          <a:xfrm>
            <a:off x="6030468" y="2738628"/>
            <a:ext cx="283464" cy="283464"/>
          </a:xfrm>
          <a:prstGeom prst="rect">
            <a:avLst/>
          </a:prstGeom>
        </p:spPr>
      </p:pic>
      <p:sp>
        <p:nvSpPr>
          <p:cNvPr id="12" name="Shape 9"/>
          <p:cNvSpPr/>
          <p:nvPr/>
        </p:nvSpPr>
        <p:spPr>
          <a:xfrm>
            <a:off x="6620256" y="2825496"/>
            <a:ext cx="566928" cy="566928"/>
          </a:xfrm>
          <a:prstGeom prst="ellipse">
            <a:avLst/>
          </a:prstGeom>
          <a:solidFill>
            <a:srgbClr val="13A89E"/>
          </a:solidFill>
          <a:ln w="12700">
            <a:solidFill>
              <a:srgbClr val="13A89E"/>
            </a:solidFill>
            <a:prstDash val="solid"/>
          </a:ln>
        </p:spPr>
      </p:sp>
      <p:pic>
        <p:nvPicPr>
          <p:cNvPr id="13" name="Image 1" descr="preencoded.png"/>
          <p:cNvPicPr>
            <a:picLocks noChangeAspect="1"/>
          </p:cNvPicPr>
          <p:nvPr/>
        </p:nvPicPr>
        <p:blipFill>
          <a:blip r:embed="rId3"/>
          <a:stretch>
            <a:fillRect/>
          </a:stretch>
        </p:blipFill>
        <p:spPr>
          <a:xfrm>
            <a:off x="6761988" y="2967228"/>
            <a:ext cx="283464" cy="283464"/>
          </a:xfrm>
          <a:prstGeom prst="rect">
            <a:avLst/>
          </a:prstGeom>
        </p:spPr>
      </p:pic>
      <p:sp>
        <p:nvSpPr>
          <p:cNvPr id="14" name="Shape 10"/>
          <p:cNvSpPr/>
          <p:nvPr/>
        </p:nvSpPr>
        <p:spPr>
          <a:xfrm>
            <a:off x="7397496" y="2825496"/>
            <a:ext cx="566928" cy="566928"/>
          </a:xfrm>
          <a:prstGeom prst="ellipse">
            <a:avLst/>
          </a:prstGeom>
          <a:solidFill>
            <a:srgbClr val="F5A524"/>
          </a:solidFill>
          <a:ln w="12700">
            <a:solidFill>
              <a:srgbClr val="F5A524"/>
            </a:solidFill>
            <a:prstDash val="solid"/>
          </a:ln>
        </p:spPr>
      </p:sp>
      <p:pic>
        <p:nvPicPr>
          <p:cNvPr id="15" name="Image 2" descr="preencoded.png"/>
          <p:cNvPicPr>
            <a:picLocks noChangeAspect="1"/>
          </p:cNvPicPr>
          <p:nvPr/>
        </p:nvPicPr>
        <p:blipFill>
          <a:blip r:embed="rId3"/>
          <a:stretch>
            <a:fillRect/>
          </a:stretch>
        </p:blipFill>
        <p:spPr>
          <a:xfrm>
            <a:off x="7539228" y="2967228"/>
            <a:ext cx="283464" cy="283464"/>
          </a:xfrm>
          <a:prstGeom prst="rect">
            <a:avLst/>
          </a:prstGeom>
        </p:spPr>
      </p:pic>
      <p:sp>
        <p:nvSpPr>
          <p:cNvPr id="16" name="Shape 11"/>
          <p:cNvSpPr/>
          <p:nvPr/>
        </p:nvSpPr>
        <p:spPr>
          <a:xfrm>
            <a:off x="8129016" y="2596896"/>
            <a:ext cx="566928" cy="566928"/>
          </a:xfrm>
          <a:prstGeom prst="ellipse">
            <a:avLst/>
          </a:prstGeom>
          <a:solidFill>
            <a:srgbClr val="F5A524"/>
          </a:solidFill>
          <a:ln w="12700">
            <a:solidFill>
              <a:srgbClr val="F5A524"/>
            </a:solidFill>
            <a:prstDash val="solid"/>
          </a:ln>
        </p:spPr>
      </p:sp>
      <p:pic>
        <p:nvPicPr>
          <p:cNvPr id="17" name="Image 3" descr="preencoded.png"/>
          <p:cNvPicPr>
            <a:picLocks noChangeAspect="1"/>
          </p:cNvPicPr>
          <p:nvPr/>
        </p:nvPicPr>
        <p:blipFill>
          <a:blip r:embed="rId3"/>
          <a:stretch>
            <a:fillRect/>
          </a:stretch>
        </p:blipFill>
        <p:spPr>
          <a:xfrm>
            <a:off x="8270748" y="2738628"/>
            <a:ext cx="283464" cy="283464"/>
          </a:xfrm>
          <a:prstGeom prst="rect">
            <a:avLst/>
          </a:prstGeom>
        </p:spPr>
      </p:pic>
      <p:sp>
        <p:nvSpPr>
          <p:cNvPr id="18" name="Shape 12"/>
          <p:cNvSpPr/>
          <p:nvPr/>
        </p:nvSpPr>
        <p:spPr>
          <a:xfrm>
            <a:off x="6812280" y="960120"/>
            <a:ext cx="914400" cy="914400"/>
          </a:xfrm>
          <a:prstGeom prst="ellipse">
            <a:avLst/>
          </a:prstGeom>
          <a:solidFill>
            <a:srgbClr val="13315C"/>
          </a:solidFill>
          <a:ln w="12700">
            <a:solidFill>
              <a:srgbClr val="13315C"/>
            </a:solidFill>
            <a:prstDash val="solid"/>
          </a:ln>
        </p:spPr>
      </p:sp>
      <p:pic>
        <p:nvPicPr>
          <p:cNvPr id="19" name="Image 4" descr="preencoded.png"/>
          <p:cNvPicPr>
            <a:picLocks noChangeAspect="1"/>
          </p:cNvPicPr>
          <p:nvPr/>
        </p:nvPicPr>
        <p:blipFill>
          <a:blip r:embed="rId4"/>
          <a:stretch>
            <a:fillRect/>
          </a:stretch>
        </p:blipFill>
        <p:spPr>
          <a:xfrm>
            <a:off x="7018020" y="1165860"/>
            <a:ext cx="502920" cy="502920"/>
          </a:xfrm>
          <a:prstGeom prst="rect">
            <a:avLst/>
          </a:prstGeom>
        </p:spPr>
      </p:pic>
      <p:sp>
        <p:nvSpPr>
          <p:cNvPr id="20" name="Shape 13"/>
          <p:cNvSpPr/>
          <p:nvPr/>
        </p:nvSpPr>
        <p:spPr>
          <a:xfrm>
            <a:off x="6812280" y="960120"/>
            <a:ext cx="914400" cy="914400"/>
          </a:xfrm>
          <a:prstGeom prst="ellipse">
            <a:avLst/>
          </a:prstGeom>
          <a:solidFill>
            <a:srgbClr val="13315C">
              <a:alpha val="0"/>
            </a:srgbClr>
          </a:solidFill>
          <a:ln w="25400">
            <a:solidFill>
              <a:srgbClr val="13A89E"/>
            </a:solidFill>
            <a:prstDash val="solid"/>
          </a:ln>
        </p:spPr>
      </p:sp>
      <p:sp>
        <p:nvSpPr>
          <p:cNvPr id="21" name="Text 14"/>
          <p:cNvSpPr txBox="1"/>
          <p:nvPr/>
        </p:nvSpPr>
        <p:spPr>
          <a:xfrm>
            <a:off x="7772400" y="1234440"/>
            <a:ext cx="1188720" cy="274320"/>
          </a:xfrm>
          <a:prstGeom prst="rect">
            <a:avLst/>
          </a:prstGeom>
          <a:noFill/>
          <a:ln/>
        </p:spPr>
        <p:txBody>
          <a:bodyPr wrap="square" lIns="0" tIns="0" rIns="0" bIns="0" rtlCol="0" anchor="ctr"/>
          <a:lstStyle/>
          <a:p>
            <a:pPr marL="0" indent="0">
              <a:buNone/>
            </a:pPr>
            <a:r>
              <a:rPr lang="en-US" sz="1100" dirty="0">
                <a:solidFill>
                  <a:srgbClr val="9FC5E8"/>
                </a:solidFill>
                <a:latin typeface="Calibri" pitchFamily="34" charset="0"/>
                <a:ea typeface="Calibri" pitchFamily="34" charset="-122"/>
                <a:cs typeface="Calibri" pitchFamily="34" charset="-120"/>
              </a:rPr>
              <a:t>Base station</a:t>
            </a:r>
            <a:endParaRPr lang="en-US" sz="1100" dirty="0"/>
          </a:p>
        </p:txBody>
      </p:sp>
      <p:sp>
        <p:nvSpPr>
          <p:cNvPr id="22" name="Text 15"/>
          <p:cNvSpPr txBox="1"/>
          <p:nvPr/>
        </p:nvSpPr>
        <p:spPr>
          <a:xfrm>
            <a:off x="5760720" y="3566160"/>
            <a:ext cx="3108960" cy="274320"/>
          </a:xfrm>
          <a:prstGeom prst="rect">
            <a:avLst/>
          </a:prstGeom>
          <a:noFill/>
          <a:ln/>
        </p:spPr>
        <p:txBody>
          <a:bodyPr wrap="square" lIns="0" tIns="0" rIns="0" bIns="0" rtlCol="0" anchor="ctr"/>
          <a:lstStyle/>
          <a:p>
            <a:pPr marL="0" indent="0" algn="ctr">
              <a:buNone/>
            </a:pPr>
            <a:r>
              <a:rPr lang="en-US" sz="1100" dirty="0">
                <a:solidFill>
                  <a:srgbClr val="9FC5E8"/>
                </a:solidFill>
                <a:latin typeface="Calibri" pitchFamily="34" charset="0"/>
                <a:ea typeface="Calibri" pitchFamily="34" charset="-122"/>
                <a:cs typeface="Calibri" pitchFamily="34" charset="-120"/>
              </a:rPr>
              <a:t>Users sharing the same radio resources in pairs</a:t>
            </a:r>
            <a:endParaRPr lang="en-US" sz="1100" dirty="0"/>
          </a:p>
        </p:txBody>
      </p:sp>
      <p:sp>
        <p:nvSpPr>
          <p:cNvPr id="23" name="Text 16"/>
          <p:cNvSpPr txBox="1"/>
          <p:nvPr/>
        </p:nvSpPr>
        <p:spPr>
          <a:xfrm>
            <a:off x="457200" y="3566160"/>
            <a:ext cx="5120640" cy="320040"/>
          </a:xfrm>
          <a:prstGeom prst="rect">
            <a:avLst/>
          </a:prstGeom>
          <a:noFill/>
          <a:ln/>
        </p:spPr>
        <p:txBody>
          <a:bodyPr wrap="square" lIns="0" tIns="0" rIns="0" bIns="0" rtlCol="0" anchor="ctr"/>
          <a:lstStyle/>
          <a:p>
            <a:pPr marL="0" indent="0">
              <a:buNone/>
            </a:pPr>
            <a:r>
              <a:rPr lang="en-US" sz="1600" dirty="0">
                <a:solidFill>
                  <a:srgbClr val="9FC5E8"/>
                </a:solidFill>
                <a:latin typeface="Calibri" pitchFamily="34" charset="0"/>
                <a:ea typeface="Calibri" pitchFamily="34" charset="-122"/>
                <a:cs typeface="Calibri" pitchFamily="34" charset="-120"/>
              </a:rPr>
              <a:t>Guide: </a:t>
            </a:r>
            <a:r>
              <a:rPr lang="en-US" sz="1600" b="1" dirty="0">
                <a:solidFill>
                  <a:srgbClr val="FFFFFF"/>
                </a:solidFill>
                <a:latin typeface="Calibri" pitchFamily="34" charset="0"/>
                <a:ea typeface="Calibri" pitchFamily="34" charset="-122"/>
                <a:cs typeface="Calibri" pitchFamily="34" charset="-120"/>
              </a:rPr>
              <a:t>Dr N Lava Prasad</a:t>
            </a:r>
            <a:endParaRPr lang="en-US" sz="1600" dirty="0"/>
          </a:p>
        </p:txBody>
      </p:sp>
      <p:sp>
        <p:nvSpPr>
          <p:cNvPr id="24" name="Shape 17"/>
          <p:cNvSpPr/>
          <p:nvPr/>
        </p:nvSpPr>
        <p:spPr>
          <a:xfrm>
            <a:off x="457200" y="4023360"/>
            <a:ext cx="2651760" cy="777240"/>
          </a:xfrm>
          <a:prstGeom prst="roundRect">
            <a:avLst>
              <a:gd name="adj" fmla="val 11765"/>
            </a:avLst>
          </a:prstGeom>
          <a:solidFill>
            <a:srgbClr val="13315C"/>
          </a:solidFill>
          <a:ln w="12700">
            <a:solidFill>
              <a:srgbClr val="2A5A8C"/>
            </a:solidFill>
            <a:prstDash val="solid"/>
          </a:ln>
        </p:spPr>
      </p:sp>
      <p:sp>
        <p:nvSpPr>
          <p:cNvPr id="25" name="Text 18"/>
          <p:cNvSpPr txBox="1"/>
          <p:nvPr/>
        </p:nvSpPr>
        <p:spPr>
          <a:xfrm>
            <a:off x="640080" y="4023360"/>
            <a:ext cx="2377440" cy="7772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 Sri Srujana</a:t>
            </a:r>
            <a:endParaRPr lang="en-US" sz="1600" dirty="0"/>
          </a:p>
          <a:p>
            <a:pPr marL="0" indent="0">
              <a:buNone/>
            </a:pPr>
            <a:r>
              <a:rPr lang="en-US" sz="1200" dirty="0">
                <a:solidFill>
                  <a:srgbClr val="9FC5E8"/>
                </a:solidFill>
                <a:latin typeface="Calibri" pitchFamily="34" charset="0"/>
                <a:ea typeface="Calibri" pitchFamily="34" charset="-122"/>
                <a:cs typeface="Calibri" pitchFamily="34" charset="-120"/>
              </a:rPr>
              <a:t>2520040005</a:t>
            </a:r>
            <a:endParaRPr lang="en-US" sz="1600" dirty="0"/>
          </a:p>
        </p:txBody>
      </p:sp>
      <p:sp>
        <p:nvSpPr>
          <p:cNvPr id="26" name="Shape 19"/>
          <p:cNvSpPr/>
          <p:nvPr/>
        </p:nvSpPr>
        <p:spPr>
          <a:xfrm>
            <a:off x="3246120" y="4023360"/>
            <a:ext cx="2651760" cy="777240"/>
          </a:xfrm>
          <a:prstGeom prst="roundRect">
            <a:avLst>
              <a:gd name="adj" fmla="val 11765"/>
            </a:avLst>
          </a:prstGeom>
          <a:solidFill>
            <a:srgbClr val="13315C"/>
          </a:solidFill>
          <a:ln w="12700">
            <a:solidFill>
              <a:srgbClr val="2A5A8C"/>
            </a:solidFill>
            <a:prstDash val="solid"/>
          </a:ln>
        </p:spPr>
      </p:sp>
      <p:sp>
        <p:nvSpPr>
          <p:cNvPr id="27" name="Text 20"/>
          <p:cNvSpPr txBox="1"/>
          <p:nvPr/>
        </p:nvSpPr>
        <p:spPr>
          <a:xfrm>
            <a:off x="3429000" y="4023360"/>
            <a:ext cx="2377440" cy="7772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 Tejitha</a:t>
            </a:r>
            <a:endParaRPr lang="en-US" sz="1600" dirty="0"/>
          </a:p>
          <a:p>
            <a:pPr marL="0" indent="0">
              <a:buNone/>
            </a:pPr>
            <a:r>
              <a:rPr lang="en-US" sz="1200" dirty="0">
                <a:solidFill>
                  <a:srgbClr val="9FC5E8"/>
                </a:solidFill>
                <a:latin typeface="Calibri" pitchFamily="34" charset="0"/>
                <a:ea typeface="Calibri" pitchFamily="34" charset="-122"/>
                <a:cs typeface="Calibri" pitchFamily="34" charset="-120"/>
              </a:rPr>
              <a:t>2520040008</a:t>
            </a:r>
            <a:endParaRPr lang="en-US" sz="1600" dirty="0"/>
          </a:p>
        </p:txBody>
      </p:sp>
      <p:sp>
        <p:nvSpPr>
          <p:cNvPr id="28" name="Shape 21"/>
          <p:cNvSpPr/>
          <p:nvPr/>
        </p:nvSpPr>
        <p:spPr>
          <a:xfrm>
            <a:off x="6035040" y="4023360"/>
            <a:ext cx="2651760" cy="777240"/>
          </a:xfrm>
          <a:prstGeom prst="roundRect">
            <a:avLst>
              <a:gd name="adj" fmla="val 11765"/>
            </a:avLst>
          </a:prstGeom>
          <a:solidFill>
            <a:srgbClr val="13315C"/>
          </a:solidFill>
          <a:ln w="12700">
            <a:solidFill>
              <a:srgbClr val="2A5A8C"/>
            </a:solidFill>
            <a:prstDash val="solid"/>
          </a:ln>
        </p:spPr>
      </p:sp>
      <p:sp>
        <p:nvSpPr>
          <p:cNvPr id="29" name="Text 22"/>
          <p:cNvSpPr txBox="1"/>
          <p:nvPr/>
        </p:nvSpPr>
        <p:spPr>
          <a:xfrm>
            <a:off x="6217920" y="4023360"/>
            <a:ext cx="2377440" cy="7772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 Gnaneshwari</a:t>
            </a:r>
            <a:endParaRPr lang="en-US" sz="1600" dirty="0"/>
          </a:p>
          <a:p>
            <a:pPr marL="0" indent="0">
              <a:buNone/>
            </a:pPr>
            <a:r>
              <a:rPr lang="en-US" sz="1200" dirty="0">
                <a:solidFill>
                  <a:srgbClr val="9FC5E8"/>
                </a:solidFill>
                <a:latin typeface="Calibri" pitchFamily="34" charset="0"/>
                <a:ea typeface="Calibri" pitchFamily="34" charset="-122"/>
                <a:cs typeface="Calibri" pitchFamily="34" charset="-120"/>
              </a:rPr>
              <a:t>2520040020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libri" pitchFamily="34" charset="0"/>
                <a:ea typeface="Calibri" pitchFamily="34" charset="-122"/>
                <a:cs typeface="Calibri" pitchFamily="34" charset="-120"/>
              </a:rPr>
              <a:t>Problem Statement</a:t>
            </a:r>
            <a:endParaRPr lang="en-US" sz="3200" dirty="0"/>
          </a:p>
        </p:txBody>
      </p:sp>
      <p:sp>
        <p:nvSpPr>
          <p:cNvPr id="3" name="Shape 1"/>
          <p:cNvSpPr/>
          <p:nvPr/>
        </p:nvSpPr>
        <p:spPr>
          <a:xfrm>
            <a:off x="457200" y="1143000"/>
            <a:ext cx="4663440" cy="1051560"/>
          </a:xfrm>
          <a:prstGeom prst="roundRect">
            <a:avLst>
              <a:gd name="adj" fmla="val 8696"/>
            </a:avLst>
          </a:prstGeom>
          <a:solidFill>
            <a:srgbClr val="F2F7FA"/>
          </a:solidFill>
          <a:ln w="9525">
            <a:solidFill>
              <a:srgbClr val="DCE6EE"/>
            </a:solidFill>
            <a:prstDash val="solid"/>
          </a:ln>
          <a:effectLst>
            <a:outerShdw blurRad="101600" dist="25400" dir="5400000" algn="bl" rotWithShape="0">
              <a:srgbClr val="000000">
                <a:alpha val="12000"/>
              </a:srgbClr>
            </a:outerShdw>
          </a:effectLst>
        </p:spPr>
      </p:sp>
      <p:sp>
        <p:nvSpPr>
          <p:cNvPr id="4" name="Shape 2"/>
          <p:cNvSpPr/>
          <p:nvPr/>
        </p:nvSpPr>
        <p:spPr>
          <a:xfrm>
            <a:off x="731520" y="1348740"/>
            <a:ext cx="640080" cy="640080"/>
          </a:xfrm>
          <a:prstGeom prst="ellipse">
            <a:avLst/>
          </a:prstGeom>
          <a:solidFill>
            <a:srgbClr val="13A89E"/>
          </a:solidFill>
          <a:ln w="12700">
            <a:solidFill>
              <a:srgbClr val="13A89E"/>
            </a:solidFill>
            <a:prstDash val="solid"/>
          </a:ln>
        </p:spPr>
      </p:sp>
      <p:pic>
        <p:nvPicPr>
          <p:cNvPr id="5" name="Image 0" descr="preencoded.png"/>
          <p:cNvPicPr>
            <a:picLocks noChangeAspect="1"/>
          </p:cNvPicPr>
          <p:nvPr/>
        </p:nvPicPr>
        <p:blipFill>
          <a:blip r:embed="rId3"/>
          <a:stretch>
            <a:fillRect/>
          </a:stretch>
        </p:blipFill>
        <p:spPr>
          <a:xfrm>
            <a:off x="891540" y="1508760"/>
            <a:ext cx="320040" cy="320040"/>
          </a:xfrm>
          <a:prstGeom prst="rect">
            <a:avLst/>
          </a:prstGeom>
        </p:spPr>
      </p:pic>
      <p:sp>
        <p:nvSpPr>
          <p:cNvPr id="6" name="Text 3"/>
          <p:cNvSpPr txBox="1"/>
          <p:nvPr/>
        </p:nvSpPr>
        <p:spPr>
          <a:xfrm>
            <a:off x="1554480" y="1188720"/>
            <a:ext cx="3474720" cy="96012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Every user is different</a:t>
            </a:r>
            <a:endParaRPr lang="en-US" sz="1700" dirty="0"/>
          </a:p>
          <a:p>
            <a:pPr marL="0" indent="0">
              <a:buNone/>
            </a:pPr>
            <a:r>
              <a:rPr lang="en-US" sz="1300" dirty="0">
                <a:solidFill>
                  <a:srgbClr val="1B2B3A"/>
                </a:solidFill>
                <a:latin typeface="Calibri" pitchFamily="34" charset="0"/>
                <a:ea typeface="Calibri" pitchFamily="34" charset="-122"/>
                <a:cs typeface="Calibri" pitchFamily="34" charset="-120"/>
              </a:rPr>
              <a:t>Different distance, signal quality, data demand and importance (priority).</a:t>
            </a:r>
            <a:endParaRPr lang="en-US" sz="1700" dirty="0"/>
          </a:p>
        </p:txBody>
      </p:sp>
      <p:sp>
        <p:nvSpPr>
          <p:cNvPr id="7" name="Shape 4"/>
          <p:cNvSpPr/>
          <p:nvPr/>
        </p:nvSpPr>
        <p:spPr>
          <a:xfrm>
            <a:off x="457200" y="2350008"/>
            <a:ext cx="4663440" cy="1051560"/>
          </a:xfrm>
          <a:prstGeom prst="roundRect">
            <a:avLst>
              <a:gd name="adj" fmla="val 8696"/>
            </a:avLst>
          </a:prstGeom>
          <a:solidFill>
            <a:srgbClr val="F2F7FA"/>
          </a:solidFill>
          <a:ln w="9525">
            <a:solidFill>
              <a:srgbClr val="DCE6EE"/>
            </a:solidFill>
            <a:prstDash val="solid"/>
          </a:ln>
          <a:effectLst>
            <a:outerShdw blurRad="101600" dist="25400" dir="5400000" algn="bl" rotWithShape="0">
              <a:srgbClr val="000000">
                <a:alpha val="12000"/>
              </a:srgbClr>
            </a:outerShdw>
          </a:effectLst>
        </p:spPr>
      </p:sp>
      <p:sp>
        <p:nvSpPr>
          <p:cNvPr id="8" name="Shape 5"/>
          <p:cNvSpPr/>
          <p:nvPr/>
        </p:nvSpPr>
        <p:spPr>
          <a:xfrm>
            <a:off x="731520" y="2555748"/>
            <a:ext cx="640080" cy="640080"/>
          </a:xfrm>
          <a:prstGeom prst="ellipse">
            <a:avLst/>
          </a:prstGeom>
          <a:solidFill>
            <a:srgbClr val="13A89E"/>
          </a:solidFill>
          <a:ln w="12700">
            <a:solidFill>
              <a:srgbClr val="13A89E"/>
            </a:solidFill>
            <a:prstDash val="solid"/>
          </a:ln>
        </p:spPr>
      </p:sp>
      <p:pic>
        <p:nvPicPr>
          <p:cNvPr id="9" name="Image 1" descr="preencoded.png"/>
          <p:cNvPicPr>
            <a:picLocks noChangeAspect="1"/>
          </p:cNvPicPr>
          <p:nvPr/>
        </p:nvPicPr>
        <p:blipFill>
          <a:blip r:embed="rId4"/>
          <a:stretch>
            <a:fillRect/>
          </a:stretch>
        </p:blipFill>
        <p:spPr>
          <a:xfrm>
            <a:off x="891540" y="2715768"/>
            <a:ext cx="320040" cy="320040"/>
          </a:xfrm>
          <a:prstGeom prst="rect">
            <a:avLst/>
          </a:prstGeom>
        </p:spPr>
      </p:pic>
      <p:sp>
        <p:nvSpPr>
          <p:cNvPr id="10" name="Text 6"/>
          <p:cNvSpPr txBox="1"/>
          <p:nvPr/>
        </p:nvSpPr>
        <p:spPr>
          <a:xfrm>
            <a:off x="1554480" y="2395728"/>
            <a:ext cx="3474720" cy="96012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Resources are limited</a:t>
            </a:r>
            <a:endParaRPr lang="en-US" sz="1700" dirty="0"/>
          </a:p>
          <a:p>
            <a:pPr marL="0" indent="0">
              <a:buNone/>
            </a:pPr>
            <a:r>
              <a:rPr lang="en-US" sz="1300" dirty="0">
                <a:solidFill>
                  <a:srgbClr val="1B2B3A"/>
                </a:solidFill>
                <a:latin typeface="Calibri" pitchFamily="34" charset="0"/>
                <a:ea typeface="Calibri" pitchFamily="34" charset="-122"/>
                <a:cs typeface="Calibri" pitchFamily="34" charset="-120"/>
              </a:rPr>
              <a:t>One tower has limited power, time and bandwidth to share among all users.</a:t>
            </a:r>
            <a:endParaRPr lang="en-US" sz="1700" dirty="0"/>
          </a:p>
        </p:txBody>
      </p:sp>
      <p:sp>
        <p:nvSpPr>
          <p:cNvPr id="11" name="Shape 7"/>
          <p:cNvSpPr/>
          <p:nvPr/>
        </p:nvSpPr>
        <p:spPr>
          <a:xfrm>
            <a:off x="457200" y="3557016"/>
            <a:ext cx="4663440" cy="1051560"/>
          </a:xfrm>
          <a:prstGeom prst="roundRect">
            <a:avLst>
              <a:gd name="adj" fmla="val 8696"/>
            </a:avLst>
          </a:prstGeom>
          <a:solidFill>
            <a:srgbClr val="F2F7FA"/>
          </a:solidFill>
          <a:ln w="9525">
            <a:solidFill>
              <a:srgbClr val="DCE6EE"/>
            </a:solidFill>
            <a:prstDash val="solid"/>
          </a:ln>
          <a:effectLst>
            <a:outerShdw blurRad="101600" dist="25400" dir="5400000" algn="bl" rotWithShape="0">
              <a:srgbClr val="000000">
                <a:alpha val="12000"/>
              </a:srgbClr>
            </a:outerShdw>
          </a:effectLst>
        </p:spPr>
      </p:sp>
      <p:sp>
        <p:nvSpPr>
          <p:cNvPr id="12" name="Shape 8"/>
          <p:cNvSpPr/>
          <p:nvPr/>
        </p:nvSpPr>
        <p:spPr>
          <a:xfrm>
            <a:off x="731520" y="3762756"/>
            <a:ext cx="640080" cy="640080"/>
          </a:xfrm>
          <a:prstGeom prst="ellipse">
            <a:avLst/>
          </a:prstGeom>
          <a:solidFill>
            <a:srgbClr val="13A89E"/>
          </a:solidFill>
          <a:ln w="12700">
            <a:solidFill>
              <a:srgbClr val="13A89E"/>
            </a:solidFill>
            <a:prstDash val="solid"/>
          </a:ln>
        </p:spPr>
      </p:sp>
      <p:pic>
        <p:nvPicPr>
          <p:cNvPr id="13" name="Image 2" descr="preencoded.png"/>
          <p:cNvPicPr>
            <a:picLocks noChangeAspect="1"/>
          </p:cNvPicPr>
          <p:nvPr/>
        </p:nvPicPr>
        <p:blipFill>
          <a:blip r:embed="rId5"/>
          <a:stretch>
            <a:fillRect/>
          </a:stretch>
        </p:blipFill>
        <p:spPr>
          <a:xfrm>
            <a:off x="891540" y="3922776"/>
            <a:ext cx="320040" cy="320040"/>
          </a:xfrm>
          <a:prstGeom prst="rect">
            <a:avLst/>
          </a:prstGeom>
        </p:spPr>
      </p:pic>
      <p:sp>
        <p:nvSpPr>
          <p:cNvPr id="14" name="Text 9"/>
          <p:cNvSpPr txBox="1"/>
          <p:nvPr/>
        </p:nvSpPr>
        <p:spPr>
          <a:xfrm>
            <a:off x="1554480" y="3602736"/>
            <a:ext cx="3474720" cy="96012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Fixed sharing is wasteful</a:t>
            </a:r>
            <a:endParaRPr lang="en-US" sz="1700" dirty="0"/>
          </a:p>
          <a:p>
            <a:pPr marL="0" indent="0">
              <a:buNone/>
            </a:pPr>
            <a:r>
              <a:rPr lang="en-US" sz="1300" dirty="0">
                <a:solidFill>
                  <a:srgbClr val="1B2B3A"/>
                </a:solidFill>
                <a:latin typeface="Calibri" pitchFamily="34" charset="0"/>
                <a:ea typeface="Calibri" pitchFamily="34" charset="-122"/>
                <a:cs typeface="Calibri" pitchFamily="34" charset="-120"/>
              </a:rPr>
              <a:t>Equal split ignores who needs more, so important users may wait longer.</a:t>
            </a:r>
            <a:endParaRPr lang="en-US" sz="1700" dirty="0"/>
          </a:p>
        </p:txBody>
      </p:sp>
      <p:sp>
        <p:nvSpPr>
          <p:cNvPr id="15" name="Shape 10"/>
          <p:cNvSpPr/>
          <p:nvPr/>
        </p:nvSpPr>
        <p:spPr>
          <a:xfrm>
            <a:off x="5394960" y="1143000"/>
            <a:ext cx="3291840" cy="3502152"/>
          </a:xfrm>
          <a:prstGeom prst="roundRect">
            <a:avLst>
              <a:gd name="adj" fmla="val 3333"/>
            </a:avLst>
          </a:prstGeom>
          <a:solidFill>
            <a:srgbClr val="0B2545"/>
          </a:solidFill>
          <a:ln w="12700">
            <a:solidFill>
              <a:srgbClr val="0B2545"/>
            </a:solidFill>
            <a:prstDash val="solid"/>
          </a:ln>
        </p:spPr>
      </p:sp>
      <p:sp>
        <p:nvSpPr>
          <p:cNvPr id="16" name="Text 11"/>
          <p:cNvSpPr txBox="1"/>
          <p:nvPr/>
        </p:nvSpPr>
        <p:spPr>
          <a:xfrm>
            <a:off x="5623560" y="1280160"/>
            <a:ext cx="2834640" cy="32004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Our question</a:t>
            </a:r>
            <a:endParaRPr lang="en-US" sz="1300" dirty="0"/>
          </a:p>
        </p:txBody>
      </p:sp>
      <p:sp>
        <p:nvSpPr>
          <p:cNvPr id="17" name="Text 12"/>
          <p:cNvSpPr txBox="1"/>
          <p:nvPr/>
        </p:nvSpPr>
        <p:spPr>
          <a:xfrm>
            <a:off x="5623560" y="1600200"/>
            <a:ext cx="2834640" cy="114300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Can an AI agent learn to share power and time smartly and favour high-priority users?</a:t>
            </a:r>
            <a:endParaRPr lang="en-US" sz="1800" dirty="0"/>
          </a:p>
        </p:txBody>
      </p:sp>
      <p:sp>
        <p:nvSpPr>
          <p:cNvPr id="18" name="Shape 13"/>
          <p:cNvSpPr/>
          <p:nvPr/>
        </p:nvSpPr>
        <p:spPr>
          <a:xfrm flipV="1">
            <a:off x="5943600" y="3246120"/>
            <a:ext cx="1371600" cy="411480"/>
          </a:xfrm>
          <a:prstGeom prst="line">
            <a:avLst/>
          </a:prstGeom>
          <a:noFill/>
          <a:ln w="38100">
            <a:solidFill>
              <a:srgbClr val="13A89E"/>
            </a:solidFill>
            <a:prstDash val="solid"/>
          </a:ln>
        </p:spPr>
      </p:sp>
      <p:sp>
        <p:nvSpPr>
          <p:cNvPr id="19" name="Shape 14"/>
          <p:cNvSpPr/>
          <p:nvPr/>
        </p:nvSpPr>
        <p:spPr>
          <a:xfrm>
            <a:off x="5943600" y="3657600"/>
            <a:ext cx="2423160" cy="502920"/>
          </a:xfrm>
          <a:prstGeom prst="line">
            <a:avLst/>
          </a:prstGeom>
          <a:noFill/>
          <a:ln w="12700">
            <a:solidFill>
              <a:srgbClr val="F5A524"/>
            </a:solidFill>
            <a:prstDash val="dash"/>
          </a:ln>
        </p:spPr>
      </p:sp>
      <p:sp>
        <p:nvSpPr>
          <p:cNvPr id="20" name="Shape 15"/>
          <p:cNvSpPr/>
          <p:nvPr/>
        </p:nvSpPr>
        <p:spPr>
          <a:xfrm>
            <a:off x="5623560" y="3337560"/>
            <a:ext cx="640080" cy="640080"/>
          </a:xfrm>
          <a:prstGeom prst="ellipse">
            <a:avLst/>
          </a:prstGeom>
          <a:solidFill>
            <a:srgbClr val="13315C"/>
          </a:solidFill>
          <a:ln w="12700">
            <a:solidFill>
              <a:srgbClr val="13315C"/>
            </a:solidFill>
            <a:prstDash val="solid"/>
          </a:ln>
        </p:spPr>
      </p:sp>
      <p:pic>
        <p:nvPicPr>
          <p:cNvPr id="21" name="Image 3" descr="preencoded.png"/>
          <p:cNvPicPr>
            <a:picLocks noChangeAspect="1"/>
          </p:cNvPicPr>
          <p:nvPr/>
        </p:nvPicPr>
        <p:blipFill>
          <a:blip r:embed="rId6"/>
          <a:stretch>
            <a:fillRect/>
          </a:stretch>
        </p:blipFill>
        <p:spPr>
          <a:xfrm>
            <a:off x="5767578" y="3481578"/>
            <a:ext cx="352044" cy="352044"/>
          </a:xfrm>
          <a:prstGeom prst="rect">
            <a:avLst/>
          </a:prstGeom>
        </p:spPr>
      </p:pic>
      <p:sp>
        <p:nvSpPr>
          <p:cNvPr id="22" name="Shape 16"/>
          <p:cNvSpPr/>
          <p:nvPr/>
        </p:nvSpPr>
        <p:spPr>
          <a:xfrm>
            <a:off x="7086600" y="3017520"/>
            <a:ext cx="457200" cy="457200"/>
          </a:xfrm>
          <a:prstGeom prst="ellipse">
            <a:avLst/>
          </a:prstGeom>
          <a:solidFill>
            <a:srgbClr val="13A89E"/>
          </a:solidFill>
          <a:ln w="12700">
            <a:solidFill>
              <a:srgbClr val="13A89E"/>
            </a:solidFill>
            <a:prstDash val="solid"/>
          </a:ln>
        </p:spPr>
      </p:sp>
      <p:pic>
        <p:nvPicPr>
          <p:cNvPr id="23" name="Image 4" descr="preencoded.png"/>
          <p:cNvPicPr>
            <a:picLocks noChangeAspect="1"/>
          </p:cNvPicPr>
          <p:nvPr/>
        </p:nvPicPr>
        <p:blipFill>
          <a:blip r:embed="rId7"/>
          <a:stretch>
            <a:fillRect/>
          </a:stretch>
        </p:blipFill>
        <p:spPr>
          <a:xfrm>
            <a:off x="7200900" y="3131820"/>
            <a:ext cx="228600" cy="228600"/>
          </a:xfrm>
          <a:prstGeom prst="rect">
            <a:avLst/>
          </a:prstGeom>
        </p:spPr>
      </p:pic>
      <p:sp>
        <p:nvSpPr>
          <p:cNvPr id="24" name="Shape 17"/>
          <p:cNvSpPr/>
          <p:nvPr/>
        </p:nvSpPr>
        <p:spPr>
          <a:xfrm>
            <a:off x="8138160" y="3931920"/>
            <a:ext cx="457200" cy="457200"/>
          </a:xfrm>
          <a:prstGeom prst="ellipse">
            <a:avLst/>
          </a:prstGeom>
          <a:solidFill>
            <a:srgbClr val="F5A524"/>
          </a:solidFill>
          <a:ln w="12700">
            <a:solidFill>
              <a:srgbClr val="F5A524"/>
            </a:solidFill>
            <a:prstDash val="solid"/>
          </a:ln>
        </p:spPr>
      </p:sp>
      <p:pic>
        <p:nvPicPr>
          <p:cNvPr id="25" name="Image 5" descr="preencoded.png"/>
          <p:cNvPicPr>
            <a:picLocks noChangeAspect="1"/>
          </p:cNvPicPr>
          <p:nvPr/>
        </p:nvPicPr>
        <p:blipFill>
          <a:blip r:embed="rId7"/>
          <a:stretch>
            <a:fillRect/>
          </a:stretch>
        </p:blipFill>
        <p:spPr>
          <a:xfrm>
            <a:off x="8252460" y="4046220"/>
            <a:ext cx="228600" cy="228600"/>
          </a:xfrm>
          <a:prstGeom prst="rect">
            <a:avLst/>
          </a:prstGeom>
        </p:spPr>
      </p:pic>
      <p:sp>
        <p:nvSpPr>
          <p:cNvPr id="26" name="Text 18"/>
          <p:cNvSpPr txBox="1"/>
          <p:nvPr/>
        </p:nvSpPr>
        <p:spPr>
          <a:xfrm>
            <a:off x="6720840" y="2834640"/>
            <a:ext cx="1737360" cy="256032"/>
          </a:xfrm>
          <a:prstGeom prst="rect">
            <a:avLst/>
          </a:prstGeom>
          <a:noFill/>
          <a:ln/>
        </p:spPr>
        <p:txBody>
          <a:bodyPr wrap="square" lIns="0" tIns="0" rIns="0" bIns="0" rtlCol="0" anchor="ctr"/>
          <a:lstStyle/>
          <a:p>
            <a:pPr marL="0" indent="0">
              <a:buNone/>
            </a:pPr>
            <a:r>
              <a:rPr lang="en-US" sz="1050" dirty="0">
                <a:solidFill>
                  <a:srgbClr val="CDE6E3"/>
                </a:solidFill>
                <a:latin typeface="Calibri" pitchFamily="34" charset="0"/>
                <a:ea typeface="Calibri" pitchFamily="34" charset="-122"/>
                <a:cs typeface="Calibri" pitchFamily="34" charset="-120"/>
              </a:rPr>
              <a:t>Near: strong signal</a:t>
            </a:r>
            <a:endParaRPr lang="en-US" sz="1050" dirty="0"/>
          </a:p>
        </p:txBody>
      </p:sp>
      <p:sp>
        <p:nvSpPr>
          <p:cNvPr id="27" name="Text 19"/>
          <p:cNvSpPr txBox="1"/>
          <p:nvPr/>
        </p:nvSpPr>
        <p:spPr>
          <a:xfrm>
            <a:off x="7178040" y="4407408"/>
            <a:ext cx="1463040" cy="228600"/>
          </a:xfrm>
          <a:prstGeom prst="rect">
            <a:avLst/>
          </a:prstGeom>
          <a:noFill/>
          <a:ln/>
        </p:spPr>
        <p:txBody>
          <a:bodyPr wrap="square" lIns="0" tIns="0" rIns="0" bIns="0" rtlCol="0" anchor="ctr"/>
          <a:lstStyle/>
          <a:p>
            <a:pPr marL="0" indent="0">
              <a:buNone/>
            </a:pPr>
            <a:r>
              <a:rPr lang="en-US" sz="1050" dirty="0">
                <a:solidFill>
                  <a:srgbClr val="FCE3B0"/>
                </a:solidFill>
                <a:latin typeface="Calibri" pitchFamily="34" charset="0"/>
                <a:ea typeface="Calibri" pitchFamily="34" charset="-122"/>
                <a:cs typeface="Calibri" pitchFamily="34" charset="-120"/>
              </a:rPr>
              <a:t>Far: weak signal</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libri" pitchFamily="34" charset="0"/>
                <a:ea typeface="Calibri" pitchFamily="34" charset="-122"/>
                <a:cs typeface="Calibri" pitchFamily="34" charset="-120"/>
              </a:rPr>
              <a:t>Key Terms in Simple Words</a:t>
            </a:r>
            <a:endParaRPr lang="en-US" sz="3200" dirty="0"/>
          </a:p>
        </p:txBody>
      </p:sp>
      <p:sp>
        <p:nvSpPr>
          <p:cNvPr id="3" name="Shape 1"/>
          <p:cNvSpPr/>
          <p:nvPr/>
        </p:nvSpPr>
        <p:spPr>
          <a:xfrm>
            <a:off x="457200" y="1051560"/>
            <a:ext cx="8229600" cy="640080"/>
          </a:xfrm>
          <a:prstGeom prst="roundRect">
            <a:avLst>
              <a:gd name="adj" fmla="val 11429"/>
            </a:avLst>
          </a:prstGeom>
          <a:solidFill>
            <a:srgbClr val="FFFFFF"/>
          </a:solidFill>
          <a:ln w="9525">
            <a:solidFill>
              <a:srgbClr val="DCE6EE"/>
            </a:solidFill>
            <a:prstDash val="solid"/>
          </a:ln>
        </p:spPr>
      </p:sp>
      <p:sp>
        <p:nvSpPr>
          <p:cNvPr id="4" name="Shape 2"/>
          <p:cNvSpPr/>
          <p:nvPr/>
        </p:nvSpPr>
        <p:spPr>
          <a:xfrm>
            <a:off x="640080" y="1143000"/>
            <a:ext cx="457200" cy="457200"/>
          </a:xfrm>
          <a:prstGeom prst="ellipse">
            <a:avLst/>
          </a:prstGeom>
          <a:solidFill>
            <a:srgbClr val="13A89E"/>
          </a:solidFill>
          <a:ln w="12700">
            <a:solidFill>
              <a:srgbClr val="13A89E"/>
            </a:solidFill>
            <a:prstDash val="solid"/>
          </a:ln>
        </p:spPr>
      </p:sp>
      <p:pic>
        <p:nvPicPr>
          <p:cNvPr id="5" name="Image 0" descr="preencoded.png"/>
          <p:cNvPicPr>
            <a:picLocks noChangeAspect="1"/>
          </p:cNvPicPr>
          <p:nvPr/>
        </p:nvPicPr>
        <p:blipFill>
          <a:blip r:embed="rId3"/>
          <a:stretch>
            <a:fillRect/>
          </a:stretch>
        </p:blipFill>
        <p:spPr>
          <a:xfrm>
            <a:off x="754380" y="1257300"/>
            <a:ext cx="228600" cy="228600"/>
          </a:xfrm>
          <a:prstGeom prst="rect">
            <a:avLst/>
          </a:prstGeom>
        </p:spPr>
      </p:pic>
      <p:sp>
        <p:nvSpPr>
          <p:cNvPr id="6" name="Text 3"/>
          <p:cNvSpPr txBox="1"/>
          <p:nvPr/>
        </p:nvSpPr>
        <p:spPr>
          <a:xfrm>
            <a:off x="1234440" y="1051560"/>
            <a:ext cx="2103120" cy="64008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OFDMA</a:t>
            </a:r>
            <a:endParaRPr lang="en-US" sz="1500" dirty="0"/>
          </a:p>
        </p:txBody>
      </p:sp>
      <p:sp>
        <p:nvSpPr>
          <p:cNvPr id="7" name="Text 4"/>
          <p:cNvSpPr txBox="1"/>
          <p:nvPr/>
        </p:nvSpPr>
        <p:spPr>
          <a:xfrm>
            <a:off x="3383280" y="1051560"/>
            <a:ext cx="5166360" cy="64008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Users take turns using separate slices of the channel. No interference, but less sharing.</a:t>
            </a:r>
            <a:endParaRPr lang="en-US" sz="1250" dirty="0"/>
          </a:p>
        </p:txBody>
      </p:sp>
      <p:sp>
        <p:nvSpPr>
          <p:cNvPr id="8" name="Shape 5"/>
          <p:cNvSpPr/>
          <p:nvPr/>
        </p:nvSpPr>
        <p:spPr>
          <a:xfrm>
            <a:off x="457200" y="1783080"/>
            <a:ext cx="8229600" cy="640080"/>
          </a:xfrm>
          <a:prstGeom prst="roundRect">
            <a:avLst>
              <a:gd name="adj" fmla="val 11429"/>
            </a:avLst>
          </a:prstGeom>
          <a:solidFill>
            <a:srgbClr val="FFFFFF"/>
          </a:solidFill>
          <a:ln w="9525">
            <a:solidFill>
              <a:srgbClr val="DCE6EE"/>
            </a:solidFill>
            <a:prstDash val="solid"/>
          </a:ln>
        </p:spPr>
      </p:sp>
      <p:sp>
        <p:nvSpPr>
          <p:cNvPr id="9" name="Shape 6"/>
          <p:cNvSpPr/>
          <p:nvPr/>
        </p:nvSpPr>
        <p:spPr>
          <a:xfrm>
            <a:off x="640080" y="1874520"/>
            <a:ext cx="457200" cy="457200"/>
          </a:xfrm>
          <a:prstGeom prst="ellipse">
            <a:avLst/>
          </a:prstGeom>
          <a:solidFill>
            <a:srgbClr val="0B2545"/>
          </a:solidFill>
          <a:ln w="12700">
            <a:solidFill>
              <a:srgbClr val="0B2545"/>
            </a:solidFill>
            <a:prstDash val="solid"/>
          </a:ln>
        </p:spPr>
      </p:sp>
      <p:pic>
        <p:nvPicPr>
          <p:cNvPr id="10" name="Image 1" descr="preencoded.png"/>
          <p:cNvPicPr>
            <a:picLocks noChangeAspect="1"/>
          </p:cNvPicPr>
          <p:nvPr/>
        </p:nvPicPr>
        <p:blipFill>
          <a:blip r:embed="rId4"/>
          <a:stretch>
            <a:fillRect/>
          </a:stretch>
        </p:blipFill>
        <p:spPr>
          <a:xfrm>
            <a:off x="754380" y="1988820"/>
            <a:ext cx="228600" cy="228600"/>
          </a:xfrm>
          <a:prstGeom prst="rect">
            <a:avLst/>
          </a:prstGeom>
        </p:spPr>
      </p:pic>
      <p:sp>
        <p:nvSpPr>
          <p:cNvPr id="11" name="Text 7"/>
          <p:cNvSpPr txBox="1"/>
          <p:nvPr/>
        </p:nvSpPr>
        <p:spPr>
          <a:xfrm>
            <a:off x="1234440" y="1783080"/>
            <a:ext cx="2103120" cy="64008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NOMA</a:t>
            </a:r>
            <a:endParaRPr lang="en-US" sz="1500" dirty="0"/>
          </a:p>
        </p:txBody>
      </p:sp>
      <p:sp>
        <p:nvSpPr>
          <p:cNvPr id="12" name="Text 8"/>
          <p:cNvSpPr txBox="1"/>
          <p:nvPr/>
        </p:nvSpPr>
        <p:spPr>
          <a:xfrm>
            <a:off x="3383280" y="1783080"/>
            <a:ext cx="5166360" cy="64008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Two users use the same slice at the same time with different power levels. Receiver separates them (called SIC).</a:t>
            </a:r>
            <a:endParaRPr lang="en-US" sz="1250" dirty="0"/>
          </a:p>
        </p:txBody>
      </p:sp>
      <p:sp>
        <p:nvSpPr>
          <p:cNvPr id="13" name="Shape 9"/>
          <p:cNvSpPr/>
          <p:nvPr/>
        </p:nvSpPr>
        <p:spPr>
          <a:xfrm>
            <a:off x="457200" y="2514600"/>
            <a:ext cx="8229600" cy="640080"/>
          </a:xfrm>
          <a:prstGeom prst="roundRect">
            <a:avLst>
              <a:gd name="adj" fmla="val 11429"/>
            </a:avLst>
          </a:prstGeom>
          <a:solidFill>
            <a:srgbClr val="FFFFFF"/>
          </a:solidFill>
          <a:ln w="9525">
            <a:solidFill>
              <a:srgbClr val="DCE6EE"/>
            </a:solidFill>
            <a:prstDash val="solid"/>
          </a:ln>
        </p:spPr>
      </p:sp>
      <p:sp>
        <p:nvSpPr>
          <p:cNvPr id="14" name="Shape 10"/>
          <p:cNvSpPr/>
          <p:nvPr/>
        </p:nvSpPr>
        <p:spPr>
          <a:xfrm>
            <a:off x="640080" y="2606040"/>
            <a:ext cx="457200" cy="457200"/>
          </a:xfrm>
          <a:prstGeom prst="ellipse">
            <a:avLst/>
          </a:prstGeom>
          <a:solidFill>
            <a:srgbClr val="13A89E"/>
          </a:solidFill>
          <a:ln w="12700">
            <a:solidFill>
              <a:srgbClr val="13A89E"/>
            </a:solidFill>
            <a:prstDash val="solid"/>
          </a:ln>
        </p:spPr>
      </p:sp>
      <p:pic>
        <p:nvPicPr>
          <p:cNvPr id="15" name="Image 2" descr="preencoded.png"/>
          <p:cNvPicPr>
            <a:picLocks noChangeAspect="1"/>
          </p:cNvPicPr>
          <p:nvPr/>
        </p:nvPicPr>
        <p:blipFill>
          <a:blip r:embed="rId5"/>
          <a:stretch>
            <a:fillRect/>
          </a:stretch>
        </p:blipFill>
        <p:spPr>
          <a:xfrm>
            <a:off x="754380" y="2720340"/>
            <a:ext cx="228600" cy="228600"/>
          </a:xfrm>
          <a:prstGeom prst="rect">
            <a:avLst/>
          </a:prstGeom>
        </p:spPr>
      </p:pic>
      <p:sp>
        <p:nvSpPr>
          <p:cNvPr id="16" name="Text 11"/>
          <p:cNvSpPr txBox="1"/>
          <p:nvPr/>
        </p:nvSpPr>
        <p:spPr>
          <a:xfrm>
            <a:off x="1234440" y="2514600"/>
            <a:ext cx="2103120" cy="64008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Hybrid NOMA &amp; OFDMA</a:t>
            </a:r>
            <a:endParaRPr lang="en-US" sz="1500" dirty="0"/>
          </a:p>
        </p:txBody>
      </p:sp>
      <p:sp>
        <p:nvSpPr>
          <p:cNvPr id="17" name="Text 12"/>
          <p:cNvSpPr txBox="1"/>
          <p:nvPr/>
        </p:nvSpPr>
        <p:spPr>
          <a:xfrm>
            <a:off x="3383280" y="2514600"/>
            <a:ext cx="5166360" cy="64008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Mix both: for each user pair, decide how much time uses NOMA and how much uses OFDMA.</a:t>
            </a:r>
            <a:endParaRPr lang="en-US" sz="1250" dirty="0"/>
          </a:p>
        </p:txBody>
      </p:sp>
      <p:sp>
        <p:nvSpPr>
          <p:cNvPr id="18" name="Shape 13"/>
          <p:cNvSpPr/>
          <p:nvPr/>
        </p:nvSpPr>
        <p:spPr>
          <a:xfrm>
            <a:off x="457200" y="3246120"/>
            <a:ext cx="8229600" cy="640080"/>
          </a:xfrm>
          <a:prstGeom prst="roundRect">
            <a:avLst>
              <a:gd name="adj" fmla="val 11429"/>
            </a:avLst>
          </a:prstGeom>
          <a:solidFill>
            <a:srgbClr val="FFFFFF"/>
          </a:solidFill>
          <a:ln w="9525">
            <a:solidFill>
              <a:srgbClr val="DCE6EE"/>
            </a:solidFill>
            <a:prstDash val="solid"/>
          </a:ln>
        </p:spPr>
      </p:sp>
      <p:sp>
        <p:nvSpPr>
          <p:cNvPr id="19" name="Shape 14"/>
          <p:cNvSpPr/>
          <p:nvPr/>
        </p:nvSpPr>
        <p:spPr>
          <a:xfrm>
            <a:off x="640080" y="3337560"/>
            <a:ext cx="457200" cy="457200"/>
          </a:xfrm>
          <a:prstGeom prst="ellipse">
            <a:avLst/>
          </a:prstGeom>
          <a:solidFill>
            <a:srgbClr val="0B2545"/>
          </a:solidFill>
          <a:ln w="12700">
            <a:solidFill>
              <a:srgbClr val="0B2545"/>
            </a:solidFill>
            <a:prstDash val="solid"/>
          </a:ln>
        </p:spPr>
      </p:sp>
      <p:pic>
        <p:nvPicPr>
          <p:cNvPr id="20" name="Image 3" descr="preencoded.png"/>
          <p:cNvPicPr>
            <a:picLocks noChangeAspect="1"/>
          </p:cNvPicPr>
          <p:nvPr/>
        </p:nvPicPr>
        <p:blipFill>
          <a:blip r:embed="rId6"/>
          <a:stretch>
            <a:fillRect/>
          </a:stretch>
        </p:blipFill>
        <p:spPr>
          <a:xfrm>
            <a:off x="754380" y="3451860"/>
            <a:ext cx="228600" cy="228600"/>
          </a:xfrm>
          <a:prstGeom prst="rect">
            <a:avLst/>
          </a:prstGeom>
        </p:spPr>
      </p:pic>
      <p:sp>
        <p:nvSpPr>
          <p:cNvPr id="21" name="Text 15"/>
          <p:cNvSpPr txBox="1"/>
          <p:nvPr/>
        </p:nvSpPr>
        <p:spPr>
          <a:xfrm>
            <a:off x="1234440" y="3246120"/>
            <a:ext cx="2103120" cy="64008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Soft Actor-Critic (SAC)</a:t>
            </a:r>
            <a:endParaRPr lang="en-US" sz="1500" dirty="0"/>
          </a:p>
        </p:txBody>
      </p:sp>
      <p:sp>
        <p:nvSpPr>
          <p:cNvPr id="22" name="Text 16"/>
          <p:cNvSpPr txBox="1"/>
          <p:nvPr/>
        </p:nvSpPr>
        <p:spPr>
          <a:xfrm>
            <a:off x="3383280" y="3246120"/>
            <a:ext cx="5166360" cy="64008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An AI that learns by trial and reward. It keeps trying new options (exploration) so it does not get stuck.</a:t>
            </a:r>
            <a:endParaRPr lang="en-US" sz="1250" dirty="0"/>
          </a:p>
        </p:txBody>
      </p:sp>
      <p:sp>
        <p:nvSpPr>
          <p:cNvPr id="23" name="Shape 17"/>
          <p:cNvSpPr/>
          <p:nvPr/>
        </p:nvSpPr>
        <p:spPr>
          <a:xfrm>
            <a:off x="457200" y="3977640"/>
            <a:ext cx="8229600" cy="640080"/>
          </a:xfrm>
          <a:prstGeom prst="roundRect">
            <a:avLst>
              <a:gd name="adj" fmla="val 11429"/>
            </a:avLst>
          </a:prstGeom>
          <a:solidFill>
            <a:srgbClr val="FFFFFF"/>
          </a:solidFill>
          <a:ln w="9525">
            <a:solidFill>
              <a:srgbClr val="DCE6EE"/>
            </a:solidFill>
            <a:prstDash val="solid"/>
          </a:ln>
        </p:spPr>
      </p:sp>
      <p:sp>
        <p:nvSpPr>
          <p:cNvPr id="24" name="Shape 18"/>
          <p:cNvSpPr/>
          <p:nvPr/>
        </p:nvSpPr>
        <p:spPr>
          <a:xfrm>
            <a:off x="640080" y="4069080"/>
            <a:ext cx="457200" cy="457200"/>
          </a:xfrm>
          <a:prstGeom prst="ellipse">
            <a:avLst/>
          </a:prstGeom>
          <a:solidFill>
            <a:srgbClr val="13A89E"/>
          </a:solidFill>
          <a:ln w="12700">
            <a:solidFill>
              <a:srgbClr val="13A89E"/>
            </a:solidFill>
            <a:prstDash val="solid"/>
          </a:ln>
        </p:spPr>
      </p:sp>
      <p:pic>
        <p:nvPicPr>
          <p:cNvPr id="25" name="Image 4" descr="preencoded.png"/>
          <p:cNvPicPr>
            <a:picLocks noChangeAspect="1"/>
          </p:cNvPicPr>
          <p:nvPr/>
        </p:nvPicPr>
        <p:blipFill>
          <a:blip r:embed="rId7"/>
          <a:stretch>
            <a:fillRect/>
          </a:stretch>
        </p:blipFill>
        <p:spPr>
          <a:xfrm>
            <a:off x="754380" y="4183380"/>
            <a:ext cx="228600" cy="228600"/>
          </a:xfrm>
          <a:prstGeom prst="rect">
            <a:avLst/>
          </a:prstGeom>
        </p:spPr>
      </p:pic>
      <p:sp>
        <p:nvSpPr>
          <p:cNvPr id="26" name="Text 19"/>
          <p:cNvSpPr txBox="1"/>
          <p:nvPr/>
        </p:nvSpPr>
        <p:spPr>
          <a:xfrm>
            <a:off x="1234440" y="3977640"/>
            <a:ext cx="2103120" cy="64008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Semantic-aware</a:t>
            </a:r>
            <a:endParaRPr lang="en-US" sz="1500" dirty="0"/>
          </a:p>
        </p:txBody>
      </p:sp>
      <p:sp>
        <p:nvSpPr>
          <p:cNvPr id="27" name="Text 20"/>
          <p:cNvSpPr txBox="1"/>
          <p:nvPr/>
        </p:nvSpPr>
        <p:spPr>
          <a:xfrm>
            <a:off x="3383280" y="3977640"/>
            <a:ext cx="5166360" cy="64008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Important data gets more care. Here, user priority (1 to 5) is used as a stand-in for importance.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libri" pitchFamily="34" charset="0"/>
                <a:ea typeface="Calibri" pitchFamily="34" charset="-122"/>
                <a:cs typeface="Calibri" pitchFamily="34" charset="-120"/>
              </a:rPr>
              <a:t>Proposed Methodology: SAC Learning Loop</a:t>
            </a:r>
            <a:endParaRPr lang="en-US" sz="3200" dirty="0"/>
          </a:p>
        </p:txBody>
      </p:sp>
      <p:sp>
        <p:nvSpPr>
          <p:cNvPr id="3" name="Shape 1"/>
          <p:cNvSpPr/>
          <p:nvPr/>
        </p:nvSpPr>
        <p:spPr>
          <a:xfrm>
            <a:off x="457200" y="1097280"/>
            <a:ext cx="1783080" cy="1600200"/>
          </a:xfrm>
          <a:prstGeom prst="roundRect">
            <a:avLst>
              <a:gd name="adj" fmla="val 5714"/>
            </a:avLst>
          </a:prstGeom>
          <a:solidFill>
            <a:srgbClr val="F2F7FA"/>
          </a:solidFill>
          <a:ln w="9525">
            <a:solidFill>
              <a:srgbClr val="DCE6EE"/>
            </a:solidFill>
            <a:prstDash val="solid"/>
          </a:ln>
          <a:effectLst>
            <a:outerShdw blurRad="101600" dist="25400" dir="5400000" algn="bl" rotWithShape="0">
              <a:srgbClr val="000000">
                <a:alpha val="12000"/>
              </a:srgbClr>
            </a:outerShdw>
          </a:effectLst>
        </p:spPr>
      </p:sp>
      <p:sp>
        <p:nvSpPr>
          <p:cNvPr id="4" name="Shape 2"/>
          <p:cNvSpPr/>
          <p:nvPr/>
        </p:nvSpPr>
        <p:spPr>
          <a:xfrm>
            <a:off x="1074420" y="1188720"/>
            <a:ext cx="548640" cy="548640"/>
          </a:xfrm>
          <a:prstGeom prst="ellipse">
            <a:avLst/>
          </a:prstGeom>
          <a:solidFill>
            <a:srgbClr val="13A89E"/>
          </a:solidFill>
          <a:ln w="12700">
            <a:solidFill>
              <a:srgbClr val="13A89E"/>
            </a:solidFill>
            <a:prstDash val="solid"/>
          </a:ln>
        </p:spPr>
      </p:sp>
      <p:pic>
        <p:nvPicPr>
          <p:cNvPr id="5" name="Image 0" descr="preencoded.png"/>
          <p:cNvPicPr>
            <a:picLocks noChangeAspect="1"/>
          </p:cNvPicPr>
          <p:nvPr/>
        </p:nvPicPr>
        <p:blipFill>
          <a:blip r:embed="rId3"/>
          <a:stretch>
            <a:fillRect/>
          </a:stretch>
        </p:blipFill>
        <p:spPr>
          <a:xfrm>
            <a:off x="1211580" y="1325880"/>
            <a:ext cx="274320" cy="274320"/>
          </a:xfrm>
          <a:prstGeom prst="rect">
            <a:avLst/>
          </a:prstGeom>
        </p:spPr>
      </p:pic>
      <p:sp>
        <p:nvSpPr>
          <p:cNvPr id="6" name="Text 3"/>
          <p:cNvSpPr txBox="1"/>
          <p:nvPr/>
        </p:nvSpPr>
        <p:spPr>
          <a:xfrm>
            <a:off x="548640" y="1783080"/>
            <a:ext cx="1600200" cy="27432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1. State</a:t>
            </a:r>
            <a:endParaRPr lang="en-US" sz="1400" dirty="0"/>
          </a:p>
        </p:txBody>
      </p:sp>
      <p:sp>
        <p:nvSpPr>
          <p:cNvPr id="7" name="Text 4"/>
          <p:cNvSpPr txBox="1"/>
          <p:nvPr/>
        </p:nvSpPr>
        <p:spPr>
          <a:xfrm>
            <a:off x="566928" y="2057400"/>
            <a:ext cx="1563624" cy="621792"/>
          </a:xfrm>
          <a:prstGeom prst="rect">
            <a:avLst/>
          </a:prstGeom>
          <a:noFill/>
          <a:ln/>
        </p:spPr>
        <p:txBody>
          <a:bodyPr wrap="square" lIns="0" tIns="0" rIns="0" bIns="0" rtlCol="0" anchor="t"/>
          <a:lstStyle/>
          <a:p>
            <a:pPr marL="0" indent="0" algn="ctr">
              <a:buNone/>
            </a:pPr>
            <a:r>
              <a:rPr lang="en-US" sz="1050" dirty="0">
                <a:solidFill>
                  <a:srgbClr val="1B2B3A"/>
                </a:solidFill>
                <a:latin typeface="Calibri" pitchFamily="34" charset="0"/>
                <a:ea typeface="Calibri" pitchFamily="34" charset="-122"/>
                <a:cs typeface="Calibri" pitchFamily="34" charset="-120"/>
              </a:rPr>
              <a:t>Channel, priority, demand, distance, power, slots of every user</a:t>
            </a:r>
            <a:endParaRPr lang="en-US" sz="1050" dirty="0"/>
          </a:p>
        </p:txBody>
      </p:sp>
      <p:sp>
        <p:nvSpPr>
          <p:cNvPr id="8" name="Shape 5"/>
          <p:cNvSpPr/>
          <p:nvPr/>
        </p:nvSpPr>
        <p:spPr>
          <a:xfrm>
            <a:off x="2276856" y="1901952"/>
            <a:ext cx="292608" cy="0"/>
          </a:xfrm>
          <a:prstGeom prst="line">
            <a:avLst/>
          </a:prstGeom>
          <a:noFill/>
          <a:ln w="25400">
            <a:solidFill>
              <a:srgbClr val="5B6B7A"/>
            </a:solidFill>
            <a:prstDash val="solid"/>
            <a:tailEnd type="triangle"/>
          </a:ln>
        </p:spPr>
      </p:sp>
      <p:sp>
        <p:nvSpPr>
          <p:cNvPr id="9" name="Shape 6"/>
          <p:cNvSpPr/>
          <p:nvPr/>
        </p:nvSpPr>
        <p:spPr>
          <a:xfrm>
            <a:off x="2606040" y="1097280"/>
            <a:ext cx="1783080" cy="1600200"/>
          </a:xfrm>
          <a:prstGeom prst="roundRect">
            <a:avLst>
              <a:gd name="adj" fmla="val 5714"/>
            </a:avLst>
          </a:prstGeom>
          <a:solidFill>
            <a:srgbClr val="F2F7FA"/>
          </a:solidFill>
          <a:ln w="9525">
            <a:solidFill>
              <a:srgbClr val="DCE6EE"/>
            </a:solidFill>
            <a:prstDash val="solid"/>
          </a:ln>
          <a:effectLst>
            <a:outerShdw blurRad="101600" dist="25400" dir="5400000" algn="bl" rotWithShape="0">
              <a:srgbClr val="000000">
                <a:alpha val="12000"/>
              </a:srgbClr>
            </a:outerShdw>
          </a:effectLst>
        </p:spPr>
      </p:sp>
      <p:sp>
        <p:nvSpPr>
          <p:cNvPr id="10" name="Shape 7"/>
          <p:cNvSpPr/>
          <p:nvPr/>
        </p:nvSpPr>
        <p:spPr>
          <a:xfrm>
            <a:off x="3223260" y="1188720"/>
            <a:ext cx="548640" cy="548640"/>
          </a:xfrm>
          <a:prstGeom prst="ellipse">
            <a:avLst/>
          </a:prstGeom>
          <a:solidFill>
            <a:srgbClr val="0B2545"/>
          </a:solidFill>
          <a:ln w="12700">
            <a:solidFill>
              <a:srgbClr val="0B2545"/>
            </a:solidFill>
            <a:prstDash val="solid"/>
          </a:ln>
        </p:spPr>
      </p:sp>
      <p:pic>
        <p:nvPicPr>
          <p:cNvPr id="11" name="Image 1" descr="preencoded.png"/>
          <p:cNvPicPr>
            <a:picLocks noChangeAspect="1"/>
          </p:cNvPicPr>
          <p:nvPr/>
        </p:nvPicPr>
        <p:blipFill>
          <a:blip r:embed="rId4"/>
          <a:stretch>
            <a:fillRect/>
          </a:stretch>
        </p:blipFill>
        <p:spPr>
          <a:xfrm>
            <a:off x="3360420" y="1325880"/>
            <a:ext cx="274320" cy="274320"/>
          </a:xfrm>
          <a:prstGeom prst="rect">
            <a:avLst/>
          </a:prstGeom>
        </p:spPr>
      </p:pic>
      <p:sp>
        <p:nvSpPr>
          <p:cNvPr id="12" name="Text 8"/>
          <p:cNvSpPr txBox="1"/>
          <p:nvPr/>
        </p:nvSpPr>
        <p:spPr>
          <a:xfrm>
            <a:off x="2697480" y="1783080"/>
            <a:ext cx="1600200" cy="27432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2. SAC Agent</a:t>
            </a:r>
            <a:endParaRPr lang="en-US" sz="1400" dirty="0"/>
          </a:p>
        </p:txBody>
      </p:sp>
      <p:sp>
        <p:nvSpPr>
          <p:cNvPr id="13" name="Text 9"/>
          <p:cNvSpPr txBox="1"/>
          <p:nvPr/>
        </p:nvSpPr>
        <p:spPr>
          <a:xfrm>
            <a:off x="2715768" y="2057400"/>
            <a:ext cx="1563624" cy="621792"/>
          </a:xfrm>
          <a:prstGeom prst="rect">
            <a:avLst/>
          </a:prstGeom>
          <a:noFill/>
          <a:ln/>
        </p:spPr>
        <p:txBody>
          <a:bodyPr wrap="square" lIns="0" tIns="0" rIns="0" bIns="0" rtlCol="0" anchor="t"/>
          <a:lstStyle/>
          <a:p>
            <a:pPr marL="0" indent="0" algn="ctr">
              <a:buNone/>
            </a:pPr>
            <a:r>
              <a:rPr lang="en-US" sz="1050" dirty="0">
                <a:solidFill>
                  <a:srgbClr val="1B2B3A"/>
                </a:solidFill>
                <a:latin typeface="Calibri" pitchFamily="34" charset="0"/>
                <a:ea typeface="Calibri" pitchFamily="34" charset="-122"/>
                <a:cs typeface="Calibri" pitchFamily="34" charset="-120"/>
              </a:rPr>
              <a:t>Actor proposes; twin critics judge; memory replays past experience</a:t>
            </a:r>
            <a:endParaRPr lang="en-US" sz="1050" dirty="0"/>
          </a:p>
        </p:txBody>
      </p:sp>
      <p:sp>
        <p:nvSpPr>
          <p:cNvPr id="14" name="Shape 10"/>
          <p:cNvSpPr/>
          <p:nvPr/>
        </p:nvSpPr>
        <p:spPr>
          <a:xfrm>
            <a:off x="4425696" y="1901952"/>
            <a:ext cx="292608" cy="0"/>
          </a:xfrm>
          <a:prstGeom prst="line">
            <a:avLst/>
          </a:prstGeom>
          <a:noFill/>
          <a:ln w="25400">
            <a:solidFill>
              <a:srgbClr val="5B6B7A"/>
            </a:solidFill>
            <a:prstDash val="solid"/>
            <a:tailEnd type="triangle"/>
          </a:ln>
        </p:spPr>
      </p:sp>
      <p:sp>
        <p:nvSpPr>
          <p:cNvPr id="15" name="Shape 11"/>
          <p:cNvSpPr/>
          <p:nvPr/>
        </p:nvSpPr>
        <p:spPr>
          <a:xfrm>
            <a:off x="4754880" y="1097280"/>
            <a:ext cx="1783080" cy="1600200"/>
          </a:xfrm>
          <a:prstGeom prst="roundRect">
            <a:avLst>
              <a:gd name="adj" fmla="val 5714"/>
            </a:avLst>
          </a:prstGeom>
          <a:solidFill>
            <a:srgbClr val="F2F7FA"/>
          </a:solidFill>
          <a:ln w="9525">
            <a:solidFill>
              <a:srgbClr val="DCE6EE"/>
            </a:solidFill>
            <a:prstDash val="solid"/>
          </a:ln>
          <a:effectLst>
            <a:outerShdw blurRad="101600" dist="25400" dir="5400000" algn="bl" rotWithShape="0">
              <a:srgbClr val="000000">
                <a:alpha val="12000"/>
              </a:srgbClr>
            </a:outerShdw>
          </a:effectLst>
        </p:spPr>
      </p:sp>
      <p:sp>
        <p:nvSpPr>
          <p:cNvPr id="16" name="Shape 12"/>
          <p:cNvSpPr/>
          <p:nvPr/>
        </p:nvSpPr>
        <p:spPr>
          <a:xfrm>
            <a:off x="5372100" y="1188720"/>
            <a:ext cx="548640" cy="548640"/>
          </a:xfrm>
          <a:prstGeom prst="ellipse">
            <a:avLst/>
          </a:prstGeom>
          <a:solidFill>
            <a:srgbClr val="13A89E"/>
          </a:solidFill>
          <a:ln w="12700">
            <a:solidFill>
              <a:srgbClr val="13A89E"/>
            </a:solidFill>
            <a:prstDash val="solid"/>
          </a:ln>
        </p:spPr>
      </p:sp>
      <p:pic>
        <p:nvPicPr>
          <p:cNvPr id="17" name="Image 2" descr="preencoded.png"/>
          <p:cNvPicPr>
            <a:picLocks noChangeAspect="1"/>
          </p:cNvPicPr>
          <p:nvPr/>
        </p:nvPicPr>
        <p:blipFill>
          <a:blip r:embed="rId5"/>
          <a:stretch>
            <a:fillRect/>
          </a:stretch>
        </p:blipFill>
        <p:spPr>
          <a:xfrm>
            <a:off x="5509260" y="1325880"/>
            <a:ext cx="274320" cy="274320"/>
          </a:xfrm>
          <a:prstGeom prst="rect">
            <a:avLst/>
          </a:prstGeom>
        </p:spPr>
      </p:pic>
      <p:sp>
        <p:nvSpPr>
          <p:cNvPr id="18" name="Text 13"/>
          <p:cNvSpPr txBox="1"/>
          <p:nvPr/>
        </p:nvSpPr>
        <p:spPr>
          <a:xfrm>
            <a:off x="4846320" y="1783080"/>
            <a:ext cx="1600200" cy="27432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3. Action</a:t>
            </a:r>
            <a:endParaRPr lang="en-US" sz="1400" dirty="0"/>
          </a:p>
        </p:txBody>
      </p:sp>
      <p:sp>
        <p:nvSpPr>
          <p:cNvPr id="19" name="Text 14"/>
          <p:cNvSpPr txBox="1"/>
          <p:nvPr/>
        </p:nvSpPr>
        <p:spPr>
          <a:xfrm>
            <a:off x="4864608" y="2057400"/>
            <a:ext cx="1563624" cy="621792"/>
          </a:xfrm>
          <a:prstGeom prst="rect">
            <a:avLst/>
          </a:prstGeom>
          <a:noFill/>
          <a:ln/>
        </p:spPr>
        <p:txBody>
          <a:bodyPr wrap="square" lIns="0" tIns="0" rIns="0" bIns="0" rtlCol="0" anchor="t"/>
          <a:lstStyle/>
          <a:p>
            <a:pPr marL="0" indent="0" algn="ctr">
              <a:buNone/>
            </a:pPr>
            <a:r>
              <a:rPr lang="en-US" sz="1050" dirty="0">
                <a:solidFill>
                  <a:srgbClr val="1B2B3A"/>
                </a:solidFill>
                <a:latin typeface="Calibri" pitchFamily="34" charset="0"/>
                <a:ea typeface="Calibri" pitchFamily="34" charset="-122"/>
                <a:cs typeface="Calibri" pitchFamily="34" charset="-120"/>
              </a:rPr>
              <a:t>Pair time share, user power, OFDMA split, NOMA time fraction</a:t>
            </a:r>
            <a:endParaRPr lang="en-US" sz="1050" dirty="0"/>
          </a:p>
        </p:txBody>
      </p:sp>
      <p:sp>
        <p:nvSpPr>
          <p:cNvPr id="20" name="Shape 15"/>
          <p:cNvSpPr/>
          <p:nvPr/>
        </p:nvSpPr>
        <p:spPr>
          <a:xfrm>
            <a:off x="6574536" y="1901952"/>
            <a:ext cx="292608" cy="0"/>
          </a:xfrm>
          <a:prstGeom prst="line">
            <a:avLst/>
          </a:prstGeom>
          <a:noFill/>
          <a:ln w="25400">
            <a:solidFill>
              <a:srgbClr val="5B6B7A"/>
            </a:solidFill>
            <a:prstDash val="solid"/>
            <a:tailEnd type="triangle"/>
          </a:ln>
        </p:spPr>
      </p:sp>
      <p:sp>
        <p:nvSpPr>
          <p:cNvPr id="21" name="Shape 16"/>
          <p:cNvSpPr/>
          <p:nvPr/>
        </p:nvSpPr>
        <p:spPr>
          <a:xfrm>
            <a:off x="6903720" y="1097280"/>
            <a:ext cx="1783080" cy="1600200"/>
          </a:xfrm>
          <a:prstGeom prst="roundRect">
            <a:avLst>
              <a:gd name="adj" fmla="val 5714"/>
            </a:avLst>
          </a:prstGeom>
          <a:solidFill>
            <a:srgbClr val="F2F7FA"/>
          </a:solidFill>
          <a:ln w="9525">
            <a:solidFill>
              <a:srgbClr val="DCE6EE"/>
            </a:solidFill>
            <a:prstDash val="solid"/>
          </a:ln>
          <a:effectLst>
            <a:outerShdw blurRad="101600" dist="25400" dir="5400000" algn="bl" rotWithShape="0">
              <a:srgbClr val="000000">
                <a:alpha val="12000"/>
              </a:srgbClr>
            </a:outerShdw>
          </a:effectLst>
        </p:spPr>
      </p:sp>
      <p:sp>
        <p:nvSpPr>
          <p:cNvPr id="22" name="Shape 17"/>
          <p:cNvSpPr/>
          <p:nvPr/>
        </p:nvSpPr>
        <p:spPr>
          <a:xfrm>
            <a:off x="7520940" y="1188720"/>
            <a:ext cx="548640" cy="548640"/>
          </a:xfrm>
          <a:prstGeom prst="ellipse">
            <a:avLst/>
          </a:prstGeom>
          <a:solidFill>
            <a:srgbClr val="0B2545"/>
          </a:solidFill>
          <a:ln w="12700">
            <a:solidFill>
              <a:srgbClr val="0B2545"/>
            </a:solidFill>
            <a:prstDash val="solid"/>
          </a:ln>
        </p:spPr>
      </p:sp>
      <p:pic>
        <p:nvPicPr>
          <p:cNvPr id="23" name="Image 3" descr="preencoded.png"/>
          <p:cNvPicPr>
            <a:picLocks noChangeAspect="1"/>
          </p:cNvPicPr>
          <p:nvPr/>
        </p:nvPicPr>
        <p:blipFill>
          <a:blip r:embed="rId6"/>
          <a:stretch>
            <a:fillRect/>
          </a:stretch>
        </p:blipFill>
        <p:spPr>
          <a:xfrm>
            <a:off x="7658100" y="1325880"/>
            <a:ext cx="274320" cy="274320"/>
          </a:xfrm>
          <a:prstGeom prst="rect">
            <a:avLst/>
          </a:prstGeom>
        </p:spPr>
      </p:pic>
      <p:sp>
        <p:nvSpPr>
          <p:cNvPr id="24" name="Text 18"/>
          <p:cNvSpPr txBox="1"/>
          <p:nvPr/>
        </p:nvSpPr>
        <p:spPr>
          <a:xfrm>
            <a:off x="6995160" y="1783080"/>
            <a:ext cx="1600200" cy="27432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4. Network</a:t>
            </a:r>
            <a:endParaRPr lang="en-US" sz="1400" dirty="0"/>
          </a:p>
        </p:txBody>
      </p:sp>
      <p:sp>
        <p:nvSpPr>
          <p:cNvPr id="25" name="Text 19"/>
          <p:cNvSpPr txBox="1"/>
          <p:nvPr/>
        </p:nvSpPr>
        <p:spPr>
          <a:xfrm>
            <a:off x="7013448" y="2057400"/>
            <a:ext cx="1563624" cy="621792"/>
          </a:xfrm>
          <a:prstGeom prst="rect">
            <a:avLst/>
          </a:prstGeom>
          <a:noFill/>
          <a:ln/>
        </p:spPr>
        <p:txBody>
          <a:bodyPr wrap="square" lIns="0" tIns="0" rIns="0" bIns="0" rtlCol="0" anchor="t"/>
          <a:lstStyle/>
          <a:p>
            <a:pPr marL="0" indent="0" algn="ctr">
              <a:buNone/>
            </a:pPr>
            <a:r>
              <a:rPr lang="en-US" sz="1050" dirty="0">
                <a:solidFill>
                  <a:srgbClr val="1B2B3A"/>
                </a:solidFill>
                <a:latin typeface="Calibri" pitchFamily="34" charset="0"/>
                <a:ea typeface="Calibri" pitchFamily="34" charset="-122"/>
                <a:cs typeface="Calibri" pitchFamily="34" charset="-120"/>
              </a:rPr>
              <a:t>Simulated hybrid NOMA-OFDMA network serves the users</a:t>
            </a:r>
            <a:endParaRPr lang="en-US" sz="1050" dirty="0"/>
          </a:p>
        </p:txBody>
      </p:sp>
      <p:sp>
        <p:nvSpPr>
          <p:cNvPr id="26" name="Shape 20"/>
          <p:cNvSpPr/>
          <p:nvPr/>
        </p:nvSpPr>
        <p:spPr>
          <a:xfrm>
            <a:off x="6903720" y="3063240"/>
            <a:ext cx="1783080" cy="685800"/>
          </a:xfrm>
          <a:prstGeom prst="roundRect">
            <a:avLst>
              <a:gd name="adj" fmla="val 13333"/>
            </a:avLst>
          </a:prstGeom>
          <a:solidFill>
            <a:srgbClr val="F5A524"/>
          </a:solidFill>
          <a:ln w="12700">
            <a:solidFill>
              <a:srgbClr val="F5A524"/>
            </a:solidFill>
            <a:prstDash val="solid"/>
          </a:ln>
        </p:spPr>
      </p:sp>
      <p:sp>
        <p:nvSpPr>
          <p:cNvPr id="27" name="Text 21"/>
          <p:cNvSpPr txBox="1"/>
          <p:nvPr/>
        </p:nvSpPr>
        <p:spPr>
          <a:xfrm>
            <a:off x="6903720" y="3063240"/>
            <a:ext cx="1783080" cy="6858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5. Reward</a:t>
            </a:r>
            <a:endParaRPr lang="en-US" sz="1400" dirty="0"/>
          </a:p>
          <a:p>
            <a:pPr marL="0" indent="0" algn="ctr">
              <a:buNone/>
            </a:pPr>
            <a:r>
              <a:rPr lang="en-US" sz="1100" dirty="0">
                <a:solidFill>
                  <a:srgbClr val="0B2545"/>
                </a:solidFill>
                <a:latin typeface="Calibri" pitchFamily="34" charset="0"/>
                <a:ea typeface="Calibri" pitchFamily="34" charset="-122"/>
                <a:cs typeface="Calibri" pitchFamily="34" charset="-120"/>
              </a:rPr>
              <a:t>Score for the allocation</a:t>
            </a:r>
            <a:endParaRPr lang="en-US" sz="1400" dirty="0"/>
          </a:p>
        </p:txBody>
      </p:sp>
      <p:sp>
        <p:nvSpPr>
          <p:cNvPr id="28" name="Shape 22"/>
          <p:cNvSpPr/>
          <p:nvPr/>
        </p:nvSpPr>
        <p:spPr>
          <a:xfrm>
            <a:off x="7795260" y="2724912"/>
            <a:ext cx="0" cy="310896"/>
          </a:xfrm>
          <a:prstGeom prst="line">
            <a:avLst/>
          </a:prstGeom>
          <a:noFill/>
          <a:ln w="25400">
            <a:solidFill>
              <a:srgbClr val="5B6B7A"/>
            </a:solidFill>
            <a:prstDash val="solid"/>
            <a:tailEnd type="triangle"/>
          </a:ln>
        </p:spPr>
      </p:sp>
      <p:sp>
        <p:nvSpPr>
          <p:cNvPr id="29" name="Shape 23"/>
          <p:cNvSpPr/>
          <p:nvPr/>
        </p:nvSpPr>
        <p:spPr>
          <a:xfrm flipH="1">
            <a:off x="3497580" y="3406140"/>
            <a:ext cx="3378708" cy="0"/>
          </a:xfrm>
          <a:prstGeom prst="line">
            <a:avLst/>
          </a:prstGeom>
          <a:noFill/>
          <a:ln w="25400">
            <a:solidFill>
              <a:srgbClr val="5B6B7A"/>
            </a:solidFill>
            <a:prstDash val="solid"/>
          </a:ln>
        </p:spPr>
      </p:sp>
      <p:sp>
        <p:nvSpPr>
          <p:cNvPr id="30" name="Shape 24"/>
          <p:cNvSpPr/>
          <p:nvPr/>
        </p:nvSpPr>
        <p:spPr>
          <a:xfrm flipV="1">
            <a:off x="3497580" y="2724912"/>
            <a:ext cx="0" cy="681228"/>
          </a:xfrm>
          <a:prstGeom prst="line">
            <a:avLst/>
          </a:prstGeom>
          <a:noFill/>
          <a:ln w="25400">
            <a:solidFill>
              <a:srgbClr val="5B6B7A"/>
            </a:solidFill>
            <a:prstDash val="solid"/>
            <a:tailEnd type="triangle"/>
          </a:ln>
        </p:spPr>
      </p:sp>
      <p:sp>
        <p:nvSpPr>
          <p:cNvPr id="31" name="Text 25"/>
          <p:cNvSpPr txBox="1"/>
          <p:nvPr/>
        </p:nvSpPr>
        <p:spPr>
          <a:xfrm>
            <a:off x="3680460" y="2880360"/>
            <a:ext cx="3291840" cy="457200"/>
          </a:xfrm>
          <a:prstGeom prst="rect">
            <a:avLst/>
          </a:prstGeom>
          <a:noFill/>
          <a:ln/>
        </p:spPr>
        <p:txBody>
          <a:bodyPr wrap="square" lIns="0" tIns="0" rIns="0" bIns="0" rtlCol="0" anchor="ctr"/>
          <a:lstStyle/>
          <a:p>
            <a:pPr marL="0" indent="0" algn="ctr">
              <a:buNone/>
            </a:pPr>
            <a:r>
              <a:rPr lang="en-US" sz="1200" i="1" dirty="0">
                <a:solidFill>
                  <a:srgbClr val="5B6B7A"/>
                </a:solidFill>
                <a:latin typeface="Calibri" pitchFamily="34" charset="0"/>
                <a:ea typeface="Calibri" pitchFamily="34" charset="-122"/>
                <a:cs typeface="Calibri" pitchFamily="34" charset="-120"/>
              </a:rPr>
              <a:t>Agent learns from the reward and improves next time</a:t>
            </a:r>
            <a:endParaRPr lang="en-US" sz="1200" dirty="0"/>
          </a:p>
        </p:txBody>
      </p:sp>
      <p:sp>
        <p:nvSpPr>
          <p:cNvPr id="32" name="Shape 26"/>
          <p:cNvSpPr/>
          <p:nvPr/>
        </p:nvSpPr>
        <p:spPr>
          <a:xfrm>
            <a:off x="457200" y="3977640"/>
            <a:ext cx="4023360" cy="777240"/>
          </a:xfrm>
          <a:prstGeom prst="roundRect">
            <a:avLst>
              <a:gd name="adj" fmla="val 11765"/>
            </a:avLst>
          </a:prstGeom>
          <a:solidFill>
            <a:srgbClr val="E3F5F3"/>
          </a:solidFill>
          <a:ln w="12700">
            <a:solidFill>
              <a:srgbClr val="13A89E"/>
            </a:solidFill>
            <a:prstDash val="solid"/>
          </a:ln>
        </p:spPr>
      </p:sp>
      <p:sp>
        <p:nvSpPr>
          <p:cNvPr id="33" name="Text 27"/>
          <p:cNvSpPr txBox="1"/>
          <p:nvPr/>
        </p:nvSpPr>
        <p:spPr>
          <a:xfrm>
            <a:off x="594360" y="3977640"/>
            <a:ext cx="3749040" cy="777240"/>
          </a:xfrm>
          <a:prstGeom prst="rect">
            <a:avLst/>
          </a:prstGeom>
          <a:noFill/>
          <a:ln/>
        </p:spPr>
        <p:txBody>
          <a:bodyPr wrap="square" lIns="0" tIns="0" rIns="0" bIns="0" rtlCol="0" anchor="ctr"/>
          <a:lstStyle/>
          <a:p>
            <a:pPr marL="0" indent="0">
              <a:buNone/>
            </a:pPr>
            <a:r>
              <a:rPr lang="en-US" sz="1200" b="1" dirty="0">
                <a:solidFill>
                  <a:srgbClr val="0B6B64"/>
                </a:solidFill>
                <a:latin typeface="Calibri" pitchFamily="34" charset="0"/>
                <a:ea typeface="Calibri" pitchFamily="34" charset="-122"/>
                <a:cs typeface="Calibri" pitchFamily="34" charset="-120"/>
              </a:rPr>
              <a:t>Rewarded for: </a:t>
            </a:r>
            <a:r>
              <a:rPr lang="en-US" sz="1200" dirty="0">
                <a:solidFill>
                  <a:srgbClr val="1B2B3A"/>
                </a:solidFill>
                <a:latin typeface="Calibri" pitchFamily="34" charset="0"/>
                <a:ea typeface="Calibri" pitchFamily="34" charset="-122"/>
                <a:cs typeface="Calibri" pitchFamily="34" charset="-120"/>
              </a:rPr>
              <a:t>high weighted throughput, fairness, meeting priority targets</a:t>
            </a:r>
            <a:endParaRPr lang="en-US" sz="1200" dirty="0"/>
          </a:p>
        </p:txBody>
      </p:sp>
      <p:sp>
        <p:nvSpPr>
          <p:cNvPr id="34" name="Shape 28"/>
          <p:cNvSpPr/>
          <p:nvPr/>
        </p:nvSpPr>
        <p:spPr>
          <a:xfrm>
            <a:off x="4663440" y="3977640"/>
            <a:ext cx="4023360" cy="777240"/>
          </a:xfrm>
          <a:prstGeom prst="roundRect">
            <a:avLst>
              <a:gd name="adj" fmla="val 11765"/>
            </a:avLst>
          </a:prstGeom>
          <a:solidFill>
            <a:srgbClr val="FDEBD0"/>
          </a:solidFill>
          <a:ln w="12700">
            <a:solidFill>
              <a:srgbClr val="F5A524"/>
            </a:solidFill>
            <a:prstDash val="solid"/>
          </a:ln>
        </p:spPr>
      </p:sp>
      <p:sp>
        <p:nvSpPr>
          <p:cNvPr id="35" name="Text 29"/>
          <p:cNvSpPr txBox="1"/>
          <p:nvPr/>
        </p:nvSpPr>
        <p:spPr>
          <a:xfrm>
            <a:off x="4800600" y="3977640"/>
            <a:ext cx="3749040" cy="777240"/>
          </a:xfrm>
          <a:prstGeom prst="rect">
            <a:avLst/>
          </a:prstGeom>
          <a:noFill/>
          <a:ln/>
        </p:spPr>
        <p:txBody>
          <a:bodyPr wrap="square" lIns="0" tIns="0" rIns="0" bIns="0" rtlCol="0" anchor="ctr"/>
          <a:lstStyle/>
          <a:p>
            <a:pPr marL="0" indent="0">
              <a:buNone/>
            </a:pPr>
            <a:r>
              <a:rPr lang="en-US" sz="1200" b="1" dirty="0">
                <a:solidFill>
                  <a:srgbClr val="9A5B00"/>
                </a:solidFill>
                <a:latin typeface="Calibri" pitchFamily="34" charset="0"/>
                <a:ea typeface="Calibri" pitchFamily="34" charset="-122"/>
                <a:cs typeface="Calibri" pitchFamily="34" charset="-120"/>
              </a:rPr>
              <a:t>Penalised for: </a:t>
            </a:r>
            <a:r>
              <a:rPr lang="en-US" sz="1200" dirty="0">
                <a:solidFill>
                  <a:srgbClr val="1B2B3A"/>
                </a:solidFill>
                <a:latin typeface="Calibri" pitchFamily="34" charset="0"/>
                <a:ea typeface="Calibri" pitchFamily="34" charset="-122"/>
                <a:cs typeface="Calibri" pitchFamily="34" charset="-120"/>
              </a:rPr>
              <a:t>long delay (queue waiting time) and wasted power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libri" pitchFamily="34" charset="0"/>
                <a:ea typeface="Calibri" pitchFamily="34" charset="-122"/>
                <a:cs typeface="Calibri" pitchFamily="34" charset="-120"/>
              </a:rPr>
              <a:t>Project Workflow &amp; Implementation</a:t>
            </a:r>
            <a:endParaRPr lang="en-US" sz="3200" dirty="0"/>
          </a:p>
        </p:txBody>
      </p:sp>
      <p:sp>
        <p:nvSpPr>
          <p:cNvPr id="3" name="Shape 1"/>
          <p:cNvSpPr/>
          <p:nvPr/>
        </p:nvSpPr>
        <p:spPr>
          <a:xfrm>
            <a:off x="1097280" y="1691640"/>
            <a:ext cx="6949440" cy="0"/>
          </a:xfrm>
          <a:prstGeom prst="line">
            <a:avLst/>
          </a:prstGeom>
          <a:noFill/>
          <a:ln w="38100">
            <a:solidFill>
              <a:srgbClr val="B6C6D6"/>
            </a:solidFill>
            <a:prstDash val="solid"/>
          </a:ln>
        </p:spPr>
      </p:sp>
      <p:sp>
        <p:nvSpPr>
          <p:cNvPr id="4" name="Shape 2"/>
          <p:cNvSpPr/>
          <p:nvPr/>
        </p:nvSpPr>
        <p:spPr>
          <a:xfrm>
            <a:off x="662940" y="1257300"/>
            <a:ext cx="868680" cy="868680"/>
          </a:xfrm>
          <a:prstGeom prst="ellipse">
            <a:avLst/>
          </a:prstGeom>
          <a:solidFill>
            <a:srgbClr val="13A89E"/>
          </a:solidFill>
          <a:ln w="12700">
            <a:solidFill>
              <a:srgbClr val="13A89E"/>
            </a:solidFill>
            <a:prstDash val="solid"/>
          </a:ln>
        </p:spPr>
      </p:sp>
      <p:pic>
        <p:nvPicPr>
          <p:cNvPr id="5" name="Image 0" descr="preencoded.png"/>
          <p:cNvPicPr>
            <a:picLocks noChangeAspect="1"/>
          </p:cNvPicPr>
          <p:nvPr/>
        </p:nvPicPr>
        <p:blipFill>
          <a:blip r:embed="rId3"/>
          <a:stretch>
            <a:fillRect/>
          </a:stretch>
        </p:blipFill>
        <p:spPr>
          <a:xfrm>
            <a:off x="880110" y="1474470"/>
            <a:ext cx="434340" cy="434340"/>
          </a:xfrm>
          <a:prstGeom prst="rect">
            <a:avLst/>
          </a:prstGeom>
        </p:spPr>
      </p:pic>
      <p:sp>
        <p:nvSpPr>
          <p:cNvPr id="6" name="Text 3"/>
          <p:cNvSpPr txBox="1"/>
          <p:nvPr/>
        </p:nvSpPr>
        <p:spPr>
          <a:xfrm>
            <a:off x="1371600" y="1124712"/>
            <a:ext cx="310896" cy="310896"/>
          </a:xfrm>
          <a:prstGeom prst="rect">
            <a:avLst/>
          </a:prstGeom>
          <a:solidFill>
            <a:srgbClr val="F5A524"/>
          </a:solid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457200" y="2286000"/>
            <a:ext cx="1280160" cy="320040"/>
          </a:xfrm>
          <a:prstGeom prst="rect">
            <a:avLst/>
          </a:prstGeom>
          <a:noFill/>
          <a:ln/>
        </p:spPr>
        <p:txBody>
          <a:bodyPr wrap="square" lIns="0" tIns="0" rIns="0" bIns="0" rtlCol="0" anchor="ctr"/>
          <a:lstStyle/>
          <a:p>
            <a:pPr marL="0" indent="0" algn="ctr">
              <a:buNone/>
            </a:pPr>
            <a:r>
              <a:rPr lang="en-US" sz="1500" b="1" dirty="0">
                <a:solidFill>
                  <a:srgbClr val="0B2545"/>
                </a:solidFill>
                <a:latin typeface="Calibri" pitchFamily="34" charset="0"/>
                <a:ea typeface="Calibri" pitchFamily="34" charset="-122"/>
                <a:cs typeface="Calibri" pitchFamily="34" charset="-120"/>
              </a:rPr>
              <a:t>Dataset</a:t>
            </a:r>
            <a:endParaRPr lang="en-US" sz="1500" dirty="0"/>
          </a:p>
        </p:txBody>
      </p:sp>
      <p:sp>
        <p:nvSpPr>
          <p:cNvPr id="8" name="Text 5"/>
          <p:cNvSpPr txBox="1"/>
          <p:nvPr/>
        </p:nvSpPr>
        <p:spPr>
          <a:xfrm>
            <a:off x="438912" y="2606040"/>
            <a:ext cx="1316736" cy="914400"/>
          </a:xfrm>
          <a:prstGeom prst="rect">
            <a:avLst/>
          </a:prstGeom>
          <a:noFill/>
          <a:ln/>
        </p:spPr>
        <p:txBody>
          <a:bodyPr wrap="square" lIns="0" tIns="0" rIns="0" bIns="0" rtlCol="0" anchor="t"/>
          <a:lstStyle/>
          <a:p>
            <a:pPr marL="0" indent="0" algn="ctr">
              <a:buNone/>
            </a:pPr>
            <a:r>
              <a:rPr lang="en-US" sz="1150" dirty="0">
                <a:solidFill>
                  <a:srgbClr val="1B2B3A"/>
                </a:solidFill>
                <a:latin typeface="Calibri" pitchFamily="34" charset="0"/>
                <a:ea typeface="Calibri" pitchFamily="34" charset="-122"/>
                <a:cs typeface="Calibri" pitchFamily="34" charset="-120"/>
              </a:rPr>
              <a:t>8 synthetic users (6 and 10 user versions too)</a:t>
            </a:r>
            <a:endParaRPr lang="en-US" sz="1150" dirty="0"/>
          </a:p>
        </p:txBody>
      </p:sp>
      <p:sp>
        <p:nvSpPr>
          <p:cNvPr id="9" name="Shape 6"/>
          <p:cNvSpPr/>
          <p:nvPr/>
        </p:nvSpPr>
        <p:spPr>
          <a:xfrm>
            <a:off x="2052828" y="1257300"/>
            <a:ext cx="868680" cy="868680"/>
          </a:xfrm>
          <a:prstGeom prst="ellipse">
            <a:avLst/>
          </a:prstGeom>
          <a:solidFill>
            <a:srgbClr val="0B2545"/>
          </a:solidFill>
          <a:ln w="12700">
            <a:solidFill>
              <a:srgbClr val="0B2545"/>
            </a:solidFill>
            <a:prstDash val="solid"/>
          </a:ln>
        </p:spPr>
      </p:sp>
      <p:pic>
        <p:nvPicPr>
          <p:cNvPr id="10" name="Image 1" descr="preencoded.png"/>
          <p:cNvPicPr>
            <a:picLocks noChangeAspect="1"/>
          </p:cNvPicPr>
          <p:nvPr/>
        </p:nvPicPr>
        <p:blipFill>
          <a:blip r:embed="rId4"/>
          <a:stretch>
            <a:fillRect/>
          </a:stretch>
        </p:blipFill>
        <p:spPr>
          <a:xfrm>
            <a:off x="2269998" y="1474470"/>
            <a:ext cx="434340" cy="434340"/>
          </a:xfrm>
          <a:prstGeom prst="rect">
            <a:avLst/>
          </a:prstGeom>
        </p:spPr>
      </p:pic>
      <p:sp>
        <p:nvSpPr>
          <p:cNvPr id="11" name="Text 7"/>
          <p:cNvSpPr txBox="1"/>
          <p:nvPr/>
        </p:nvSpPr>
        <p:spPr>
          <a:xfrm>
            <a:off x="2761488" y="1124712"/>
            <a:ext cx="310896" cy="310896"/>
          </a:xfrm>
          <a:prstGeom prst="rect">
            <a:avLst/>
          </a:prstGeom>
          <a:solidFill>
            <a:srgbClr val="F5A524"/>
          </a:solid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2" name="Text 8"/>
          <p:cNvSpPr txBox="1"/>
          <p:nvPr/>
        </p:nvSpPr>
        <p:spPr>
          <a:xfrm>
            <a:off x="1847088" y="2286000"/>
            <a:ext cx="1280160" cy="320040"/>
          </a:xfrm>
          <a:prstGeom prst="rect">
            <a:avLst/>
          </a:prstGeom>
          <a:noFill/>
          <a:ln/>
        </p:spPr>
        <p:txBody>
          <a:bodyPr wrap="square" lIns="0" tIns="0" rIns="0" bIns="0" rtlCol="0" anchor="ctr"/>
          <a:lstStyle/>
          <a:p>
            <a:pPr marL="0" indent="0" algn="ctr">
              <a:buNone/>
            </a:pPr>
            <a:r>
              <a:rPr lang="en-US" sz="1500" b="1" dirty="0">
                <a:solidFill>
                  <a:srgbClr val="0B2545"/>
                </a:solidFill>
                <a:latin typeface="Calibri" pitchFamily="34" charset="0"/>
                <a:ea typeface="Calibri" pitchFamily="34" charset="-122"/>
                <a:cs typeface="Calibri" pitchFamily="34" charset="-120"/>
              </a:rPr>
              <a:t>Simulator</a:t>
            </a:r>
            <a:endParaRPr lang="en-US" sz="1500" dirty="0"/>
          </a:p>
        </p:txBody>
      </p:sp>
      <p:sp>
        <p:nvSpPr>
          <p:cNvPr id="13" name="Text 9"/>
          <p:cNvSpPr txBox="1"/>
          <p:nvPr/>
        </p:nvSpPr>
        <p:spPr>
          <a:xfrm>
            <a:off x="1828800" y="2606040"/>
            <a:ext cx="1316736" cy="914400"/>
          </a:xfrm>
          <a:prstGeom prst="rect">
            <a:avLst/>
          </a:prstGeom>
          <a:noFill/>
          <a:ln/>
        </p:spPr>
        <p:txBody>
          <a:bodyPr wrap="square" lIns="0" tIns="0" rIns="0" bIns="0" rtlCol="0" anchor="t"/>
          <a:lstStyle/>
          <a:p>
            <a:pPr marL="0" indent="0" algn="ctr">
              <a:buNone/>
            </a:pPr>
            <a:r>
              <a:rPr lang="en-US" sz="1150" dirty="0">
                <a:solidFill>
                  <a:srgbClr val="1B2B3A"/>
                </a:solidFill>
                <a:latin typeface="Calibri" pitchFamily="34" charset="0"/>
                <a:ea typeface="Calibri" pitchFamily="34" charset="-122"/>
                <a:cs typeface="Calibri" pitchFamily="34" charset="-120"/>
              </a:rPr>
              <a:t>Gymnasium environment </a:t>
            </a:r>
            <a:r>
              <a:rPr lang="en-US" sz="1150">
                <a:solidFill>
                  <a:srgbClr val="1B2B3A"/>
                </a:solidFill>
                <a:latin typeface="Calibri" pitchFamily="34" charset="0"/>
                <a:ea typeface="Calibri" pitchFamily="34" charset="-122"/>
                <a:cs typeface="Calibri" pitchFamily="34" charset="-120"/>
              </a:rPr>
              <a:t>with user </a:t>
            </a:r>
            <a:r>
              <a:rPr lang="en-US" sz="1150" dirty="0">
                <a:solidFill>
                  <a:srgbClr val="1B2B3A"/>
                </a:solidFill>
                <a:latin typeface="Calibri" pitchFamily="34" charset="0"/>
                <a:ea typeface="Calibri" pitchFamily="34" charset="-122"/>
                <a:cs typeface="Calibri" pitchFamily="34" charset="-120"/>
              </a:rPr>
              <a:t>pairs</a:t>
            </a:r>
            <a:endParaRPr lang="en-US" sz="1150" dirty="0"/>
          </a:p>
        </p:txBody>
      </p:sp>
      <p:sp>
        <p:nvSpPr>
          <p:cNvPr id="14" name="Shape 10"/>
          <p:cNvSpPr/>
          <p:nvPr/>
        </p:nvSpPr>
        <p:spPr>
          <a:xfrm>
            <a:off x="3442716" y="1257300"/>
            <a:ext cx="868680" cy="868680"/>
          </a:xfrm>
          <a:prstGeom prst="ellipse">
            <a:avLst/>
          </a:prstGeom>
          <a:solidFill>
            <a:srgbClr val="13A89E"/>
          </a:solidFill>
          <a:ln w="12700">
            <a:solidFill>
              <a:srgbClr val="13A89E"/>
            </a:solidFill>
            <a:prstDash val="solid"/>
          </a:ln>
        </p:spPr>
      </p:sp>
      <p:pic>
        <p:nvPicPr>
          <p:cNvPr id="15" name="Image 2" descr="preencoded.png"/>
          <p:cNvPicPr>
            <a:picLocks noChangeAspect="1"/>
          </p:cNvPicPr>
          <p:nvPr/>
        </p:nvPicPr>
        <p:blipFill>
          <a:blip r:embed="rId5"/>
          <a:stretch>
            <a:fillRect/>
          </a:stretch>
        </p:blipFill>
        <p:spPr>
          <a:xfrm>
            <a:off x="3659886" y="1474470"/>
            <a:ext cx="434340" cy="434340"/>
          </a:xfrm>
          <a:prstGeom prst="rect">
            <a:avLst/>
          </a:prstGeom>
        </p:spPr>
      </p:pic>
      <p:sp>
        <p:nvSpPr>
          <p:cNvPr id="16" name="Text 11"/>
          <p:cNvSpPr txBox="1"/>
          <p:nvPr/>
        </p:nvSpPr>
        <p:spPr>
          <a:xfrm>
            <a:off x="4151376" y="1124712"/>
            <a:ext cx="310896" cy="310896"/>
          </a:xfrm>
          <a:prstGeom prst="rect">
            <a:avLst/>
          </a:prstGeom>
          <a:solidFill>
            <a:srgbClr val="F5A524"/>
          </a:solid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17" name="Text 12"/>
          <p:cNvSpPr txBox="1"/>
          <p:nvPr/>
        </p:nvSpPr>
        <p:spPr>
          <a:xfrm>
            <a:off x="3236976" y="2286000"/>
            <a:ext cx="1280160" cy="320040"/>
          </a:xfrm>
          <a:prstGeom prst="rect">
            <a:avLst/>
          </a:prstGeom>
          <a:noFill/>
          <a:ln/>
        </p:spPr>
        <p:txBody>
          <a:bodyPr wrap="square" lIns="0" tIns="0" rIns="0" bIns="0" rtlCol="0" anchor="ctr"/>
          <a:lstStyle/>
          <a:p>
            <a:pPr marL="0" indent="0" algn="ctr">
              <a:buNone/>
            </a:pPr>
            <a:r>
              <a:rPr lang="en-US" sz="1500" b="1" dirty="0">
                <a:solidFill>
                  <a:srgbClr val="0B2545"/>
                </a:solidFill>
                <a:latin typeface="Calibri" pitchFamily="34" charset="0"/>
                <a:ea typeface="Calibri" pitchFamily="34" charset="-122"/>
                <a:cs typeface="Calibri" pitchFamily="34" charset="-120"/>
              </a:rPr>
              <a:t>Reward</a:t>
            </a:r>
            <a:endParaRPr lang="en-US" sz="1500" dirty="0"/>
          </a:p>
        </p:txBody>
      </p:sp>
      <p:sp>
        <p:nvSpPr>
          <p:cNvPr id="18" name="Text 13"/>
          <p:cNvSpPr txBox="1"/>
          <p:nvPr/>
        </p:nvSpPr>
        <p:spPr>
          <a:xfrm>
            <a:off x="3218688" y="2606040"/>
            <a:ext cx="1316736" cy="914400"/>
          </a:xfrm>
          <a:prstGeom prst="rect">
            <a:avLst/>
          </a:prstGeom>
          <a:noFill/>
          <a:ln/>
        </p:spPr>
        <p:txBody>
          <a:bodyPr wrap="square" lIns="0" tIns="0" rIns="0" bIns="0" rtlCol="0" anchor="t"/>
          <a:lstStyle/>
          <a:p>
            <a:pPr marL="0" indent="0" algn="ctr">
              <a:buNone/>
            </a:pPr>
            <a:r>
              <a:rPr lang="en-US" sz="1150" dirty="0">
                <a:solidFill>
                  <a:srgbClr val="1B2B3A"/>
                </a:solidFill>
                <a:latin typeface="Calibri" pitchFamily="34" charset="0"/>
                <a:ea typeface="Calibri" pitchFamily="34" charset="-122"/>
                <a:cs typeface="Calibri" pitchFamily="34" charset="-120"/>
              </a:rPr>
              <a:t>Throughput, fairness, priority, delay, power</a:t>
            </a:r>
            <a:endParaRPr lang="en-US" sz="1150" dirty="0"/>
          </a:p>
        </p:txBody>
      </p:sp>
      <p:sp>
        <p:nvSpPr>
          <p:cNvPr id="19" name="Shape 14"/>
          <p:cNvSpPr/>
          <p:nvPr/>
        </p:nvSpPr>
        <p:spPr>
          <a:xfrm>
            <a:off x="4832604" y="1257300"/>
            <a:ext cx="868680" cy="868680"/>
          </a:xfrm>
          <a:prstGeom prst="ellipse">
            <a:avLst/>
          </a:prstGeom>
          <a:solidFill>
            <a:srgbClr val="0B2545"/>
          </a:solidFill>
          <a:ln w="12700">
            <a:solidFill>
              <a:srgbClr val="0B2545"/>
            </a:solidFill>
            <a:prstDash val="solid"/>
          </a:ln>
        </p:spPr>
      </p:sp>
      <p:pic>
        <p:nvPicPr>
          <p:cNvPr id="20" name="Image 3" descr="preencoded.png"/>
          <p:cNvPicPr>
            <a:picLocks noChangeAspect="1"/>
          </p:cNvPicPr>
          <p:nvPr/>
        </p:nvPicPr>
        <p:blipFill>
          <a:blip r:embed="rId6"/>
          <a:stretch>
            <a:fillRect/>
          </a:stretch>
        </p:blipFill>
        <p:spPr>
          <a:xfrm>
            <a:off x="5049774" y="1474470"/>
            <a:ext cx="434340" cy="434340"/>
          </a:xfrm>
          <a:prstGeom prst="rect">
            <a:avLst/>
          </a:prstGeom>
        </p:spPr>
      </p:pic>
      <p:sp>
        <p:nvSpPr>
          <p:cNvPr id="21" name="Text 15"/>
          <p:cNvSpPr txBox="1"/>
          <p:nvPr/>
        </p:nvSpPr>
        <p:spPr>
          <a:xfrm>
            <a:off x="5541264" y="1124712"/>
            <a:ext cx="310896" cy="310896"/>
          </a:xfrm>
          <a:prstGeom prst="rect">
            <a:avLst/>
          </a:prstGeom>
          <a:solidFill>
            <a:srgbClr val="F5A524"/>
          </a:solid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4</a:t>
            </a:r>
            <a:endParaRPr lang="en-US" sz="1200" dirty="0"/>
          </a:p>
        </p:txBody>
      </p:sp>
      <p:sp>
        <p:nvSpPr>
          <p:cNvPr id="22" name="Text 16"/>
          <p:cNvSpPr txBox="1"/>
          <p:nvPr/>
        </p:nvSpPr>
        <p:spPr>
          <a:xfrm>
            <a:off x="4626864" y="2286000"/>
            <a:ext cx="1280160" cy="320040"/>
          </a:xfrm>
          <a:prstGeom prst="rect">
            <a:avLst/>
          </a:prstGeom>
          <a:noFill/>
          <a:ln/>
        </p:spPr>
        <p:txBody>
          <a:bodyPr wrap="square" lIns="0" tIns="0" rIns="0" bIns="0" rtlCol="0" anchor="ctr"/>
          <a:lstStyle/>
          <a:p>
            <a:pPr marL="0" indent="0" algn="ctr">
              <a:buNone/>
            </a:pPr>
            <a:r>
              <a:rPr lang="en-US" sz="1500" b="1" dirty="0">
                <a:solidFill>
                  <a:srgbClr val="0B2545"/>
                </a:solidFill>
                <a:latin typeface="Calibri" pitchFamily="34" charset="0"/>
                <a:ea typeface="Calibri" pitchFamily="34" charset="-122"/>
                <a:cs typeface="Calibri" pitchFamily="34" charset="-120"/>
              </a:rPr>
              <a:t>Train SAC</a:t>
            </a:r>
            <a:endParaRPr lang="en-US" sz="1500" dirty="0"/>
          </a:p>
        </p:txBody>
      </p:sp>
      <p:sp>
        <p:nvSpPr>
          <p:cNvPr id="23" name="Text 17"/>
          <p:cNvSpPr txBox="1"/>
          <p:nvPr/>
        </p:nvSpPr>
        <p:spPr>
          <a:xfrm>
            <a:off x="4608576" y="2606040"/>
            <a:ext cx="1316736" cy="914400"/>
          </a:xfrm>
          <a:prstGeom prst="rect">
            <a:avLst/>
          </a:prstGeom>
          <a:noFill/>
          <a:ln/>
        </p:spPr>
        <p:txBody>
          <a:bodyPr wrap="square" lIns="0" tIns="0" rIns="0" bIns="0" rtlCol="0" anchor="t"/>
          <a:lstStyle/>
          <a:p>
            <a:pPr marL="0" indent="0" algn="ctr">
              <a:buNone/>
            </a:pPr>
            <a:r>
              <a:rPr lang="en-US" sz="1150" dirty="0">
                <a:solidFill>
                  <a:srgbClr val="1B2B3A"/>
                </a:solidFill>
                <a:latin typeface="Calibri" pitchFamily="34" charset="0"/>
                <a:ea typeface="Calibri" pitchFamily="34" charset="-122"/>
                <a:cs typeface="Calibri" pitchFamily="34" charset="-120"/>
              </a:rPr>
              <a:t>Stable-Baselines3; 20,000 steps for 8 users</a:t>
            </a:r>
            <a:endParaRPr lang="en-US" sz="1150" dirty="0"/>
          </a:p>
        </p:txBody>
      </p:sp>
      <p:sp>
        <p:nvSpPr>
          <p:cNvPr id="24" name="Shape 18"/>
          <p:cNvSpPr/>
          <p:nvPr/>
        </p:nvSpPr>
        <p:spPr>
          <a:xfrm>
            <a:off x="6222492" y="1257300"/>
            <a:ext cx="868680" cy="868680"/>
          </a:xfrm>
          <a:prstGeom prst="ellipse">
            <a:avLst/>
          </a:prstGeom>
          <a:solidFill>
            <a:srgbClr val="13A89E"/>
          </a:solidFill>
          <a:ln w="12700">
            <a:solidFill>
              <a:srgbClr val="13A89E"/>
            </a:solidFill>
            <a:prstDash val="solid"/>
          </a:ln>
        </p:spPr>
      </p:sp>
      <p:pic>
        <p:nvPicPr>
          <p:cNvPr id="25" name="Image 4" descr="preencoded.png"/>
          <p:cNvPicPr>
            <a:picLocks noChangeAspect="1"/>
          </p:cNvPicPr>
          <p:nvPr/>
        </p:nvPicPr>
        <p:blipFill>
          <a:blip r:embed="rId7"/>
          <a:stretch>
            <a:fillRect/>
          </a:stretch>
        </p:blipFill>
        <p:spPr>
          <a:xfrm>
            <a:off x="6439662" y="1474470"/>
            <a:ext cx="434340" cy="434340"/>
          </a:xfrm>
          <a:prstGeom prst="rect">
            <a:avLst/>
          </a:prstGeom>
        </p:spPr>
      </p:pic>
      <p:sp>
        <p:nvSpPr>
          <p:cNvPr id="26" name="Text 19"/>
          <p:cNvSpPr txBox="1"/>
          <p:nvPr/>
        </p:nvSpPr>
        <p:spPr>
          <a:xfrm>
            <a:off x="6931152" y="1124712"/>
            <a:ext cx="310896" cy="310896"/>
          </a:xfrm>
          <a:prstGeom prst="rect">
            <a:avLst/>
          </a:prstGeom>
          <a:solidFill>
            <a:srgbClr val="F5A524"/>
          </a:solid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5</a:t>
            </a:r>
            <a:endParaRPr lang="en-US" sz="1200" dirty="0"/>
          </a:p>
        </p:txBody>
      </p:sp>
      <p:sp>
        <p:nvSpPr>
          <p:cNvPr id="27" name="Text 20"/>
          <p:cNvSpPr txBox="1"/>
          <p:nvPr/>
        </p:nvSpPr>
        <p:spPr>
          <a:xfrm>
            <a:off x="6016752" y="2286000"/>
            <a:ext cx="1280160" cy="320040"/>
          </a:xfrm>
          <a:prstGeom prst="rect">
            <a:avLst/>
          </a:prstGeom>
          <a:noFill/>
          <a:ln/>
        </p:spPr>
        <p:txBody>
          <a:bodyPr wrap="square" lIns="0" tIns="0" rIns="0" bIns="0" rtlCol="0" anchor="ctr"/>
          <a:lstStyle/>
          <a:p>
            <a:pPr marL="0" indent="0" algn="ctr">
              <a:buNone/>
            </a:pPr>
            <a:r>
              <a:rPr lang="en-US" sz="1500" b="1" dirty="0">
                <a:solidFill>
                  <a:srgbClr val="0B2545"/>
                </a:solidFill>
                <a:latin typeface="Calibri" pitchFamily="34" charset="0"/>
                <a:ea typeface="Calibri" pitchFamily="34" charset="-122"/>
                <a:cs typeface="Calibri" pitchFamily="34" charset="-120"/>
              </a:rPr>
              <a:t>Evaluate</a:t>
            </a:r>
            <a:endParaRPr lang="en-US" sz="1500" dirty="0"/>
          </a:p>
        </p:txBody>
      </p:sp>
      <p:sp>
        <p:nvSpPr>
          <p:cNvPr id="28" name="Text 21"/>
          <p:cNvSpPr txBox="1"/>
          <p:nvPr/>
        </p:nvSpPr>
        <p:spPr>
          <a:xfrm>
            <a:off x="5998464" y="2606040"/>
            <a:ext cx="1316736" cy="914400"/>
          </a:xfrm>
          <a:prstGeom prst="rect">
            <a:avLst/>
          </a:prstGeom>
          <a:noFill/>
          <a:ln/>
        </p:spPr>
        <p:txBody>
          <a:bodyPr wrap="square" lIns="0" tIns="0" rIns="0" bIns="0" rtlCol="0" anchor="t"/>
          <a:lstStyle/>
          <a:p>
            <a:pPr marL="0" indent="0" algn="ctr">
              <a:buNone/>
            </a:pPr>
            <a:r>
              <a:rPr lang="en-US" sz="1150" dirty="0">
                <a:solidFill>
                  <a:srgbClr val="1B2B3A"/>
                </a:solidFill>
                <a:latin typeface="Calibri" pitchFamily="34" charset="0"/>
                <a:ea typeface="Calibri" pitchFamily="34" charset="-122"/>
                <a:cs typeface="Calibri" pitchFamily="34" charset="-120"/>
              </a:rPr>
              <a:t>20 matched episodes vs equal-share baseline</a:t>
            </a:r>
            <a:endParaRPr lang="en-US" sz="1150" dirty="0"/>
          </a:p>
        </p:txBody>
      </p:sp>
      <p:sp>
        <p:nvSpPr>
          <p:cNvPr id="29" name="Shape 22"/>
          <p:cNvSpPr/>
          <p:nvPr/>
        </p:nvSpPr>
        <p:spPr>
          <a:xfrm>
            <a:off x="7612380" y="1257300"/>
            <a:ext cx="868680" cy="868680"/>
          </a:xfrm>
          <a:prstGeom prst="ellipse">
            <a:avLst/>
          </a:prstGeom>
          <a:solidFill>
            <a:srgbClr val="0B2545"/>
          </a:solidFill>
          <a:ln w="12700">
            <a:solidFill>
              <a:srgbClr val="0B2545"/>
            </a:solidFill>
            <a:prstDash val="solid"/>
          </a:ln>
        </p:spPr>
      </p:sp>
      <p:pic>
        <p:nvPicPr>
          <p:cNvPr id="30" name="Image 5" descr="preencoded.png"/>
          <p:cNvPicPr>
            <a:picLocks noChangeAspect="1"/>
          </p:cNvPicPr>
          <p:nvPr/>
        </p:nvPicPr>
        <p:blipFill>
          <a:blip r:embed="rId8"/>
          <a:stretch>
            <a:fillRect/>
          </a:stretch>
        </p:blipFill>
        <p:spPr>
          <a:xfrm>
            <a:off x="7829550" y="1474470"/>
            <a:ext cx="434340" cy="434340"/>
          </a:xfrm>
          <a:prstGeom prst="rect">
            <a:avLst/>
          </a:prstGeom>
        </p:spPr>
      </p:pic>
      <p:sp>
        <p:nvSpPr>
          <p:cNvPr id="31" name="Text 23"/>
          <p:cNvSpPr txBox="1"/>
          <p:nvPr/>
        </p:nvSpPr>
        <p:spPr>
          <a:xfrm>
            <a:off x="8321040" y="1124712"/>
            <a:ext cx="310896" cy="310896"/>
          </a:xfrm>
          <a:prstGeom prst="rect">
            <a:avLst/>
          </a:prstGeom>
          <a:solidFill>
            <a:srgbClr val="F5A524"/>
          </a:solid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6</a:t>
            </a:r>
            <a:endParaRPr lang="en-US" sz="1200" dirty="0"/>
          </a:p>
        </p:txBody>
      </p:sp>
      <p:sp>
        <p:nvSpPr>
          <p:cNvPr id="32" name="Text 24"/>
          <p:cNvSpPr txBox="1"/>
          <p:nvPr/>
        </p:nvSpPr>
        <p:spPr>
          <a:xfrm>
            <a:off x="7406640" y="2286000"/>
            <a:ext cx="1280160" cy="320040"/>
          </a:xfrm>
          <a:prstGeom prst="rect">
            <a:avLst/>
          </a:prstGeom>
          <a:noFill/>
          <a:ln/>
        </p:spPr>
        <p:txBody>
          <a:bodyPr wrap="square" lIns="0" tIns="0" rIns="0" bIns="0" rtlCol="0" anchor="ctr"/>
          <a:lstStyle/>
          <a:p>
            <a:pPr marL="0" indent="0" algn="ctr">
              <a:buNone/>
            </a:pPr>
            <a:r>
              <a:rPr lang="en-US" sz="1500" b="1" dirty="0">
                <a:solidFill>
                  <a:srgbClr val="0B2545"/>
                </a:solidFill>
                <a:latin typeface="Calibri" pitchFamily="34" charset="0"/>
                <a:ea typeface="Calibri" pitchFamily="34" charset="-122"/>
                <a:cs typeface="Calibri" pitchFamily="34" charset="-120"/>
              </a:rPr>
              <a:t>Results</a:t>
            </a:r>
            <a:endParaRPr lang="en-US" sz="1500" dirty="0"/>
          </a:p>
        </p:txBody>
      </p:sp>
      <p:sp>
        <p:nvSpPr>
          <p:cNvPr id="33" name="Text 25"/>
          <p:cNvSpPr txBox="1"/>
          <p:nvPr/>
        </p:nvSpPr>
        <p:spPr>
          <a:xfrm>
            <a:off x="7388352" y="2606040"/>
            <a:ext cx="1316736" cy="914400"/>
          </a:xfrm>
          <a:prstGeom prst="rect">
            <a:avLst/>
          </a:prstGeom>
          <a:noFill/>
          <a:ln/>
        </p:spPr>
        <p:txBody>
          <a:bodyPr wrap="square" lIns="0" tIns="0" rIns="0" bIns="0" rtlCol="0" anchor="t"/>
          <a:lstStyle/>
          <a:p>
            <a:pPr marL="0" indent="0" algn="ctr">
              <a:buNone/>
            </a:pPr>
            <a:r>
              <a:rPr lang="en-US" sz="1150" dirty="0">
                <a:solidFill>
                  <a:srgbClr val="1B2B3A"/>
                </a:solidFill>
                <a:latin typeface="Calibri" pitchFamily="34" charset="0"/>
                <a:ea typeface="Calibri" pitchFamily="34" charset="-122"/>
                <a:cs typeface="Calibri" pitchFamily="34" charset="-120"/>
              </a:rPr>
              <a:t>It shows results</a:t>
            </a:r>
            <a:endParaRPr lang="en-US" sz="1150" dirty="0"/>
          </a:p>
        </p:txBody>
      </p:sp>
      <p:sp>
        <p:nvSpPr>
          <p:cNvPr id="34" name="Shape 26"/>
          <p:cNvSpPr/>
          <p:nvPr/>
        </p:nvSpPr>
        <p:spPr>
          <a:xfrm>
            <a:off x="457200" y="3749040"/>
            <a:ext cx="8229600" cy="914400"/>
          </a:xfrm>
          <a:prstGeom prst="roundRect">
            <a:avLst>
              <a:gd name="adj" fmla="val 10000"/>
            </a:avLst>
          </a:prstGeom>
          <a:solidFill>
            <a:srgbClr val="0B2545"/>
          </a:solidFill>
          <a:ln w="12700">
            <a:solidFill>
              <a:srgbClr val="0B2545"/>
            </a:solidFill>
            <a:prstDash val="solid"/>
          </a:ln>
        </p:spPr>
      </p:sp>
      <p:sp>
        <p:nvSpPr>
          <p:cNvPr id="35" name="Text 27"/>
          <p:cNvSpPr txBox="1"/>
          <p:nvPr/>
        </p:nvSpPr>
        <p:spPr>
          <a:xfrm>
            <a:off x="731520" y="3749040"/>
            <a:ext cx="7680960" cy="91440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Tools used</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Python  |  Gymnasium  |  Stable-Baselines3 (SAC)  |  Google Colab notebook  |  Flask dashboard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libri" pitchFamily="34" charset="0"/>
                <a:ea typeface="Calibri" pitchFamily="34" charset="-122"/>
                <a:cs typeface="Calibri" pitchFamily="34" charset="-120"/>
              </a:rPr>
              <a:t>Simulation Setup &amp; Dataset</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754880" cy="2962656"/>
        </p:xfrm>
        <a:graphic>
          <a:graphicData uri="http://schemas.openxmlformats.org/drawingml/2006/table">
            <a:tbl>
              <a:tblPr/>
              <a:tblGrid>
                <a:gridCol w="6400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2918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User</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Channel quality</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Priority</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Demand (MB)</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Distance (m)</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29184">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U01</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0.91</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1.80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U02</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0.73</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140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extLst>
                  <a:ext uri="{0D108BD9-81ED-4DB2-BD59-A6C34878D82A}">
                    <a16:rowId xmlns:a16="http://schemas.microsoft.com/office/drawing/2014/main" val="10002"/>
                  </a:ext>
                </a:extLst>
              </a:tr>
              <a:tr h="329184">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U03</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0.62</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2.10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210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U04</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0.88</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0.95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extLst>
                  <a:ext uri="{0D108BD9-81ED-4DB2-BD59-A6C34878D82A}">
                    <a16:rowId xmlns:a16="http://schemas.microsoft.com/office/drawing/2014/main" val="10004"/>
                  </a:ext>
                </a:extLst>
              </a:tr>
              <a:tr h="329184">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U05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0.49</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1.60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320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U06</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0.67</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1.10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245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extLst>
                  <a:ext uri="{0D108BD9-81ED-4DB2-BD59-A6C34878D82A}">
                    <a16:rowId xmlns:a16="http://schemas.microsoft.com/office/drawing/2014/main" val="10006"/>
                  </a:ext>
                </a:extLst>
              </a:tr>
              <a:tr h="329184">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U07</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0.35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460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U08</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0.81</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175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2F7FA"/>
                    </a:solidFill>
                  </a:tcPr>
                </a:tc>
                <a:extLst>
                  <a:ext uri="{0D108BD9-81ED-4DB2-BD59-A6C34878D82A}">
                    <a16:rowId xmlns:a16="http://schemas.microsoft.com/office/drawing/2014/main" val="10008"/>
                  </a:ext>
                </a:extLst>
              </a:tr>
            </a:tbl>
          </a:graphicData>
        </a:graphic>
      </p:graphicFrame>
      <p:sp>
        <p:nvSpPr>
          <p:cNvPr id="4" name="Text 1"/>
          <p:cNvSpPr txBox="1"/>
          <p:nvPr/>
        </p:nvSpPr>
        <p:spPr>
          <a:xfrm>
            <a:off x="457200" y="4206240"/>
            <a:ext cx="4754880" cy="457200"/>
          </a:xfrm>
          <a:prstGeom prst="rect">
            <a:avLst/>
          </a:prstGeom>
          <a:noFill/>
          <a:ln/>
        </p:spPr>
        <p:txBody>
          <a:bodyPr wrap="square" lIns="0" tIns="0" rIns="0" bIns="0" rtlCol="0" anchor="t"/>
          <a:lstStyle/>
          <a:p>
            <a:pPr marL="0" indent="0">
              <a:buNone/>
            </a:pPr>
            <a:r>
              <a:rPr lang="en-US" sz="1100" i="1" dirty="0">
                <a:solidFill>
                  <a:srgbClr val="5B6B7A"/>
                </a:solidFill>
                <a:latin typeface="Calibri" pitchFamily="34" charset="0"/>
                <a:ea typeface="Calibri" pitchFamily="34" charset="-122"/>
                <a:cs typeface="Calibri" pitchFamily="34" charset="-120"/>
              </a:rPr>
              <a:t>Synthetic data for 8 users. Priority (1 to 5) stands in for semantic importance. No real network is used.</a:t>
            </a:r>
            <a:endParaRPr lang="en-US" sz="1100" dirty="0"/>
          </a:p>
        </p:txBody>
      </p:sp>
      <p:sp>
        <p:nvSpPr>
          <p:cNvPr id="5" name="Shape 2"/>
          <p:cNvSpPr/>
          <p:nvPr/>
        </p:nvSpPr>
        <p:spPr>
          <a:xfrm>
            <a:off x="5486400" y="1097280"/>
            <a:ext cx="3200400" cy="777240"/>
          </a:xfrm>
          <a:prstGeom prst="roundRect">
            <a:avLst>
              <a:gd name="adj" fmla="val 9412"/>
            </a:avLst>
          </a:prstGeom>
          <a:solidFill>
            <a:srgbClr val="F2F7FA"/>
          </a:solidFill>
          <a:ln w="9525">
            <a:solidFill>
              <a:srgbClr val="DCE6EE"/>
            </a:solidFill>
            <a:prstDash val="solid"/>
          </a:ln>
        </p:spPr>
      </p:sp>
      <p:sp>
        <p:nvSpPr>
          <p:cNvPr id="6" name="Shape 3"/>
          <p:cNvSpPr/>
          <p:nvPr/>
        </p:nvSpPr>
        <p:spPr>
          <a:xfrm>
            <a:off x="5641848" y="1257300"/>
            <a:ext cx="457200" cy="457200"/>
          </a:xfrm>
          <a:prstGeom prst="ellipse">
            <a:avLst/>
          </a:prstGeom>
          <a:solidFill>
            <a:srgbClr val="13A89E"/>
          </a:solidFill>
          <a:ln w="12700">
            <a:solidFill>
              <a:srgbClr val="13A89E"/>
            </a:solidFill>
            <a:prstDash val="solid"/>
          </a:ln>
        </p:spPr>
      </p:sp>
      <p:pic>
        <p:nvPicPr>
          <p:cNvPr id="3" name="Image 0" descr="preencoded.png"/>
          <p:cNvPicPr>
            <a:picLocks noChangeAspect="1"/>
          </p:cNvPicPr>
          <p:nvPr/>
        </p:nvPicPr>
        <p:blipFill>
          <a:blip r:embed="rId3"/>
          <a:stretch>
            <a:fillRect/>
          </a:stretch>
        </p:blipFill>
        <p:spPr>
          <a:xfrm>
            <a:off x="5756148" y="1371600"/>
            <a:ext cx="228600" cy="228600"/>
          </a:xfrm>
          <a:prstGeom prst="rect">
            <a:avLst/>
          </a:prstGeom>
        </p:spPr>
      </p:pic>
      <p:sp>
        <p:nvSpPr>
          <p:cNvPr id="8" name="Text 4"/>
          <p:cNvSpPr txBox="1"/>
          <p:nvPr/>
        </p:nvSpPr>
        <p:spPr>
          <a:xfrm>
            <a:off x="6217920" y="1097280"/>
            <a:ext cx="2377440" cy="7772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4 fixed user pairs</a:t>
            </a:r>
            <a:endParaRPr lang="en-US" sz="1300" dirty="0"/>
          </a:p>
          <a:p>
            <a:pPr marL="0" indent="0">
              <a:buNone/>
            </a:pPr>
            <a:r>
              <a:rPr lang="en-US" sz="1100" dirty="0">
                <a:solidFill>
                  <a:srgbClr val="1B2B3A"/>
                </a:solidFill>
                <a:latin typeface="Calibri" pitchFamily="34" charset="0"/>
                <a:ea typeface="Calibri" pitchFamily="34" charset="-122"/>
                <a:cs typeface="Calibri" pitchFamily="34" charset="-120"/>
              </a:rPr>
              <a:t>Each pair gets a share of one frame</a:t>
            </a:r>
            <a:endParaRPr lang="en-US" sz="1300" dirty="0"/>
          </a:p>
        </p:txBody>
      </p:sp>
      <p:sp>
        <p:nvSpPr>
          <p:cNvPr id="9" name="Shape 5"/>
          <p:cNvSpPr/>
          <p:nvPr/>
        </p:nvSpPr>
        <p:spPr>
          <a:xfrm>
            <a:off x="5486400" y="1984248"/>
            <a:ext cx="3200400" cy="777240"/>
          </a:xfrm>
          <a:prstGeom prst="roundRect">
            <a:avLst>
              <a:gd name="adj" fmla="val 9412"/>
            </a:avLst>
          </a:prstGeom>
          <a:solidFill>
            <a:srgbClr val="F2F7FA"/>
          </a:solidFill>
          <a:ln w="9525">
            <a:solidFill>
              <a:srgbClr val="DCE6EE"/>
            </a:solidFill>
            <a:prstDash val="solid"/>
          </a:ln>
        </p:spPr>
      </p:sp>
      <p:sp>
        <p:nvSpPr>
          <p:cNvPr id="10" name="Shape 6"/>
          <p:cNvSpPr/>
          <p:nvPr/>
        </p:nvSpPr>
        <p:spPr>
          <a:xfrm>
            <a:off x="5641848" y="2144268"/>
            <a:ext cx="457200" cy="457200"/>
          </a:xfrm>
          <a:prstGeom prst="ellipse">
            <a:avLst/>
          </a:prstGeom>
          <a:solidFill>
            <a:srgbClr val="0B2545"/>
          </a:solidFill>
          <a:ln w="12700">
            <a:solidFill>
              <a:srgbClr val="0B2545"/>
            </a:solidFill>
            <a:prstDash val="solid"/>
          </a:ln>
        </p:spPr>
      </p:sp>
      <p:pic>
        <p:nvPicPr>
          <p:cNvPr id="11" name="Image 1" descr="preencoded.png"/>
          <p:cNvPicPr>
            <a:picLocks noChangeAspect="1"/>
          </p:cNvPicPr>
          <p:nvPr/>
        </p:nvPicPr>
        <p:blipFill>
          <a:blip r:embed="rId4"/>
          <a:stretch>
            <a:fillRect/>
          </a:stretch>
        </p:blipFill>
        <p:spPr>
          <a:xfrm>
            <a:off x="5756148" y="2258568"/>
            <a:ext cx="228600" cy="228600"/>
          </a:xfrm>
          <a:prstGeom prst="rect">
            <a:avLst/>
          </a:prstGeom>
        </p:spPr>
      </p:pic>
      <p:sp>
        <p:nvSpPr>
          <p:cNvPr id="12" name="Text 7"/>
          <p:cNvSpPr txBox="1"/>
          <p:nvPr/>
        </p:nvSpPr>
        <p:spPr>
          <a:xfrm>
            <a:off x="6217920" y="1984248"/>
            <a:ext cx="2377440" cy="7772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1 MHz bandwidth, 4 W power</a:t>
            </a:r>
            <a:endParaRPr lang="en-US" sz="1300" dirty="0"/>
          </a:p>
          <a:p>
            <a:pPr marL="0" indent="0">
              <a:buNone/>
            </a:pPr>
            <a:r>
              <a:rPr lang="en-US" sz="1100" dirty="0">
                <a:solidFill>
                  <a:srgbClr val="1B2B3A"/>
                </a:solidFill>
                <a:latin typeface="Calibri" pitchFamily="34" charset="0"/>
                <a:ea typeface="Calibri" pitchFamily="34" charset="-122"/>
                <a:cs typeface="Calibri" pitchFamily="34" charset="-120"/>
              </a:rPr>
              <a:t>Simulated limits shared by all users</a:t>
            </a:r>
            <a:endParaRPr lang="en-US" sz="1300" dirty="0"/>
          </a:p>
        </p:txBody>
      </p:sp>
      <p:sp>
        <p:nvSpPr>
          <p:cNvPr id="13" name="Shape 8"/>
          <p:cNvSpPr/>
          <p:nvPr/>
        </p:nvSpPr>
        <p:spPr>
          <a:xfrm>
            <a:off x="5486400" y="2871216"/>
            <a:ext cx="3200400" cy="777240"/>
          </a:xfrm>
          <a:prstGeom prst="roundRect">
            <a:avLst>
              <a:gd name="adj" fmla="val 9412"/>
            </a:avLst>
          </a:prstGeom>
          <a:solidFill>
            <a:srgbClr val="F2F7FA"/>
          </a:solidFill>
          <a:ln w="9525">
            <a:solidFill>
              <a:srgbClr val="DCE6EE"/>
            </a:solidFill>
            <a:prstDash val="solid"/>
          </a:ln>
        </p:spPr>
      </p:sp>
      <p:sp>
        <p:nvSpPr>
          <p:cNvPr id="14" name="Shape 9"/>
          <p:cNvSpPr/>
          <p:nvPr/>
        </p:nvSpPr>
        <p:spPr>
          <a:xfrm>
            <a:off x="5641848" y="3031236"/>
            <a:ext cx="457200" cy="457200"/>
          </a:xfrm>
          <a:prstGeom prst="ellipse">
            <a:avLst/>
          </a:prstGeom>
          <a:solidFill>
            <a:srgbClr val="13A89E"/>
          </a:solidFill>
          <a:ln w="12700">
            <a:solidFill>
              <a:srgbClr val="13A89E"/>
            </a:solidFill>
            <a:prstDash val="solid"/>
          </a:ln>
        </p:spPr>
      </p:sp>
      <p:pic>
        <p:nvPicPr>
          <p:cNvPr id="15" name="Image 2" descr="preencoded.png"/>
          <p:cNvPicPr>
            <a:picLocks noChangeAspect="1"/>
          </p:cNvPicPr>
          <p:nvPr/>
        </p:nvPicPr>
        <p:blipFill>
          <a:blip r:embed="rId5"/>
          <a:stretch>
            <a:fillRect/>
          </a:stretch>
        </p:blipFill>
        <p:spPr>
          <a:xfrm>
            <a:off x="5756148" y="3145536"/>
            <a:ext cx="228600" cy="228600"/>
          </a:xfrm>
          <a:prstGeom prst="rect">
            <a:avLst/>
          </a:prstGeom>
        </p:spPr>
      </p:pic>
      <p:sp>
        <p:nvSpPr>
          <p:cNvPr id="16" name="Text 10"/>
          <p:cNvSpPr txBox="1"/>
          <p:nvPr/>
        </p:nvSpPr>
        <p:spPr>
          <a:xfrm>
            <a:off x="6217920" y="2871216"/>
            <a:ext cx="2377440" cy="7772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3 test cases</a:t>
            </a:r>
            <a:endParaRPr lang="en-US" sz="1300" dirty="0"/>
          </a:p>
          <a:p>
            <a:pPr marL="0" indent="0">
              <a:buNone/>
            </a:pPr>
            <a:r>
              <a:rPr lang="en-US" sz="1100" dirty="0">
                <a:solidFill>
                  <a:srgbClr val="1B2B3A"/>
                </a:solidFill>
                <a:latin typeface="Calibri" pitchFamily="34" charset="0"/>
                <a:ea typeface="Calibri" pitchFamily="34" charset="-122"/>
                <a:cs typeface="Calibri" pitchFamily="34" charset="-120"/>
              </a:rPr>
              <a:t>6, 8 and 10 users, one SAC model each</a:t>
            </a:r>
            <a:endParaRPr lang="en-US" sz="1300" dirty="0"/>
          </a:p>
        </p:txBody>
      </p:sp>
      <p:sp>
        <p:nvSpPr>
          <p:cNvPr id="17" name="Shape 11"/>
          <p:cNvSpPr/>
          <p:nvPr/>
        </p:nvSpPr>
        <p:spPr>
          <a:xfrm>
            <a:off x="5486400" y="3758184"/>
            <a:ext cx="3200400" cy="777240"/>
          </a:xfrm>
          <a:prstGeom prst="roundRect">
            <a:avLst>
              <a:gd name="adj" fmla="val 9412"/>
            </a:avLst>
          </a:prstGeom>
          <a:solidFill>
            <a:srgbClr val="F2F7FA"/>
          </a:solidFill>
          <a:ln w="9525">
            <a:solidFill>
              <a:srgbClr val="DCE6EE"/>
            </a:solidFill>
            <a:prstDash val="solid"/>
          </a:ln>
        </p:spPr>
      </p:sp>
      <p:sp>
        <p:nvSpPr>
          <p:cNvPr id="18" name="Shape 12"/>
          <p:cNvSpPr/>
          <p:nvPr/>
        </p:nvSpPr>
        <p:spPr>
          <a:xfrm>
            <a:off x="5641848" y="3918204"/>
            <a:ext cx="457200" cy="457200"/>
          </a:xfrm>
          <a:prstGeom prst="ellipse">
            <a:avLst/>
          </a:prstGeom>
          <a:solidFill>
            <a:srgbClr val="0B2545"/>
          </a:solidFill>
          <a:ln w="12700">
            <a:solidFill>
              <a:srgbClr val="0B2545"/>
            </a:solidFill>
            <a:prstDash val="solid"/>
          </a:ln>
        </p:spPr>
      </p:sp>
      <p:pic>
        <p:nvPicPr>
          <p:cNvPr id="19" name="Image 3" descr="preencoded.png"/>
          <p:cNvPicPr>
            <a:picLocks noChangeAspect="1"/>
          </p:cNvPicPr>
          <p:nvPr/>
        </p:nvPicPr>
        <p:blipFill>
          <a:blip r:embed="rId6"/>
          <a:stretch>
            <a:fillRect/>
          </a:stretch>
        </p:blipFill>
        <p:spPr>
          <a:xfrm>
            <a:off x="5756148" y="4032504"/>
            <a:ext cx="228600" cy="228600"/>
          </a:xfrm>
          <a:prstGeom prst="rect">
            <a:avLst/>
          </a:prstGeom>
        </p:spPr>
      </p:pic>
      <p:sp>
        <p:nvSpPr>
          <p:cNvPr id="20" name="Text 13"/>
          <p:cNvSpPr txBox="1"/>
          <p:nvPr/>
        </p:nvSpPr>
        <p:spPr>
          <a:xfrm>
            <a:off x="6217920" y="3758184"/>
            <a:ext cx="2377440" cy="7772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Baseline for comparison</a:t>
            </a:r>
            <a:endParaRPr lang="en-US" sz="1300" dirty="0"/>
          </a:p>
          <a:p>
            <a:pPr marL="0" indent="0">
              <a:buNone/>
            </a:pPr>
            <a:r>
              <a:rPr lang="en-US" sz="1100" dirty="0">
                <a:solidFill>
                  <a:srgbClr val="1B2B3A"/>
                </a:solidFill>
                <a:latin typeface="Calibri" pitchFamily="34" charset="0"/>
                <a:ea typeface="Calibri" pitchFamily="34" charset="-122"/>
                <a:cs typeface="Calibri" pitchFamily="34" charset="-120"/>
              </a:rPr>
              <a:t>Equal time and power, OFDMA only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libri" pitchFamily="34" charset="0"/>
                <a:ea typeface="Calibri" pitchFamily="34" charset="-122"/>
                <a:cs typeface="Calibri" pitchFamily="34" charset="-120"/>
              </a:rPr>
              <a:t>Results: SAC vs Baseline (8 Users)</a:t>
            </a:r>
            <a:endParaRPr lang="en-US" sz="3200" dirty="0"/>
          </a:p>
        </p:txBody>
      </p:sp>
      <p:sp>
        <p:nvSpPr>
          <p:cNvPr id="3" name="Shape 1"/>
          <p:cNvSpPr/>
          <p:nvPr/>
        </p:nvSpPr>
        <p:spPr>
          <a:xfrm>
            <a:off x="457200" y="1097280"/>
            <a:ext cx="5120640" cy="3200400"/>
          </a:xfrm>
          <a:prstGeom prst="roundRect">
            <a:avLst>
              <a:gd name="adj" fmla="val 1429"/>
            </a:avLst>
          </a:prstGeom>
          <a:solidFill>
            <a:srgbClr val="FFFFFF"/>
          </a:solidFill>
          <a:ln w="12700">
            <a:solidFill>
              <a:srgbClr val="DCE6EE"/>
            </a:solidFill>
            <a:prstDash val="solid"/>
          </a:ln>
          <a:effectLst>
            <a:outerShdw blurRad="101600" dist="25400" dir="5400000" algn="bl" rotWithShape="0">
              <a:srgbClr val="000000">
                <a:alpha val="12000"/>
              </a:srgbClr>
            </a:outerShdw>
          </a:effectLst>
        </p:spPr>
      </p:sp>
      <p:pic>
        <p:nvPicPr>
          <p:cNvPr id="4" name="Image 0" descr="reward_curve.png"/>
          <p:cNvPicPr>
            <a:picLocks noChangeAspect="1"/>
          </p:cNvPicPr>
          <p:nvPr/>
        </p:nvPicPr>
        <p:blipFill>
          <a:blip r:embed="rId3"/>
          <a:stretch>
            <a:fillRect/>
          </a:stretch>
        </p:blipFill>
        <p:spPr>
          <a:xfrm>
            <a:off x="548640" y="1188720"/>
            <a:ext cx="4937760" cy="2779776"/>
          </a:xfrm>
          <a:prstGeom prst="rect">
            <a:avLst/>
          </a:prstGeom>
        </p:spPr>
      </p:pic>
      <p:sp>
        <p:nvSpPr>
          <p:cNvPr id="5" name="Text 2"/>
          <p:cNvSpPr txBox="1"/>
          <p:nvPr/>
        </p:nvSpPr>
        <p:spPr>
          <a:xfrm>
            <a:off x="548640" y="3986784"/>
            <a:ext cx="4937760" cy="274320"/>
          </a:xfrm>
          <a:prstGeom prst="rect">
            <a:avLst/>
          </a:prstGeom>
          <a:noFill/>
          <a:ln/>
        </p:spPr>
        <p:txBody>
          <a:bodyPr wrap="square" lIns="0" tIns="0" rIns="0" bIns="0" rtlCol="0" anchor="ctr"/>
          <a:lstStyle/>
          <a:p>
            <a:pPr marL="0" indent="0" algn="ctr">
              <a:buNone/>
            </a:pPr>
            <a:r>
              <a:rPr lang="en-US" sz="1050" i="1" dirty="0">
                <a:solidFill>
                  <a:srgbClr val="5B6B7A"/>
                </a:solidFill>
                <a:latin typeface="Calibri" pitchFamily="34" charset="0"/>
                <a:ea typeface="Calibri" pitchFamily="34" charset="-122"/>
                <a:cs typeface="Calibri" pitchFamily="34" charset="-120"/>
              </a:rPr>
              <a:t>Episode return over 20 evaluation episodes (from our results folder)</a:t>
            </a:r>
            <a:endParaRPr lang="en-US" sz="1050" dirty="0"/>
          </a:p>
        </p:txBody>
      </p:sp>
      <p:sp>
        <p:nvSpPr>
          <p:cNvPr id="6" name="Shape 3"/>
          <p:cNvSpPr/>
          <p:nvPr/>
        </p:nvSpPr>
        <p:spPr>
          <a:xfrm>
            <a:off x="5852160" y="1097280"/>
            <a:ext cx="2834640" cy="960120"/>
          </a:xfrm>
          <a:prstGeom prst="roundRect">
            <a:avLst>
              <a:gd name="adj" fmla="val 7619"/>
            </a:avLst>
          </a:prstGeom>
          <a:solidFill>
            <a:srgbClr val="F2F7FA"/>
          </a:solidFill>
          <a:ln w="9525">
            <a:solidFill>
              <a:srgbClr val="DCE6EE"/>
            </a:solidFill>
            <a:prstDash val="solid"/>
          </a:ln>
        </p:spPr>
      </p:sp>
      <p:sp>
        <p:nvSpPr>
          <p:cNvPr id="7" name="Text 4"/>
          <p:cNvSpPr txBox="1"/>
          <p:nvPr/>
        </p:nvSpPr>
        <p:spPr>
          <a:xfrm>
            <a:off x="5989320" y="1097280"/>
            <a:ext cx="1463040" cy="960120"/>
          </a:xfrm>
          <a:prstGeom prst="rect">
            <a:avLst/>
          </a:prstGeom>
          <a:noFill/>
          <a:ln/>
        </p:spPr>
        <p:txBody>
          <a:bodyPr wrap="square" lIns="0" tIns="0" rIns="0" bIns="0" rtlCol="0" anchor="ctr"/>
          <a:lstStyle/>
          <a:p>
            <a:pPr marL="0" indent="0">
              <a:buNone/>
            </a:pPr>
            <a:r>
              <a:rPr lang="en-US" sz="3000" b="1" dirty="0">
                <a:solidFill>
                  <a:srgbClr val="13A89E"/>
                </a:solidFill>
                <a:latin typeface="Calibri" pitchFamily="34" charset="0"/>
                <a:ea typeface="Calibri" pitchFamily="34" charset="-122"/>
                <a:cs typeface="Calibri" pitchFamily="34" charset="-120"/>
              </a:rPr>
              <a:t>544.03</a:t>
            </a:r>
            <a:endParaRPr lang="en-US" sz="3000" dirty="0"/>
          </a:p>
        </p:txBody>
      </p:sp>
      <p:sp>
        <p:nvSpPr>
          <p:cNvPr id="8" name="Text 5"/>
          <p:cNvSpPr txBox="1"/>
          <p:nvPr/>
        </p:nvSpPr>
        <p:spPr>
          <a:xfrm>
            <a:off x="7452360" y="1097280"/>
            <a:ext cx="1188720" cy="960120"/>
          </a:xfrm>
          <a:prstGeom prst="rect">
            <a:avLst/>
          </a:prstGeom>
          <a:noFill/>
          <a:ln/>
        </p:spPr>
        <p:txBody>
          <a:bodyPr wrap="square" lIns="0" tIns="0" rIns="0" bIns="0" rtlCol="0" anchor="ctr"/>
          <a:lstStyle/>
          <a:p>
            <a:pPr marL="0" indent="0">
              <a:buNone/>
            </a:pPr>
            <a:r>
              <a:rPr lang="en-US" sz="1200" dirty="0">
                <a:solidFill>
                  <a:srgbClr val="1B2B3A"/>
                </a:solidFill>
                <a:latin typeface="Calibri" pitchFamily="34" charset="0"/>
                <a:ea typeface="Calibri" pitchFamily="34" charset="-122"/>
                <a:cs typeface="Calibri" pitchFamily="34" charset="-120"/>
              </a:rPr>
              <a:t>SAC average reward</a:t>
            </a:r>
            <a:endParaRPr lang="en-US" sz="1200" dirty="0"/>
          </a:p>
        </p:txBody>
      </p:sp>
      <p:sp>
        <p:nvSpPr>
          <p:cNvPr id="9" name="Shape 6"/>
          <p:cNvSpPr/>
          <p:nvPr/>
        </p:nvSpPr>
        <p:spPr>
          <a:xfrm>
            <a:off x="5852160" y="2194560"/>
            <a:ext cx="2834640" cy="960120"/>
          </a:xfrm>
          <a:prstGeom prst="roundRect">
            <a:avLst>
              <a:gd name="adj" fmla="val 7619"/>
            </a:avLst>
          </a:prstGeom>
          <a:solidFill>
            <a:srgbClr val="F2F7FA"/>
          </a:solidFill>
          <a:ln w="9525">
            <a:solidFill>
              <a:srgbClr val="DCE6EE"/>
            </a:solidFill>
            <a:prstDash val="solid"/>
          </a:ln>
        </p:spPr>
      </p:sp>
      <p:sp>
        <p:nvSpPr>
          <p:cNvPr id="10" name="Text 7"/>
          <p:cNvSpPr txBox="1"/>
          <p:nvPr/>
        </p:nvSpPr>
        <p:spPr>
          <a:xfrm>
            <a:off x="5989320" y="2194560"/>
            <a:ext cx="1463040" cy="9601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522.05</a:t>
            </a:r>
            <a:endParaRPr lang="en-US" sz="3000" dirty="0"/>
          </a:p>
        </p:txBody>
      </p:sp>
      <p:sp>
        <p:nvSpPr>
          <p:cNvPr id="11" name="Text 8"/>
          <p:cNvSpPr txBox="1"/>
          <p:nvPr/>
        </p:nvSpPr>
        <p:spPr>
          <a:xfrm>
            <a:off x="7452360" y="2194560"/>
            <a:ext cx="1188720" cy="960120"/>
          </a:xfrm>
          <a:prstGeom prst="rect">
            <a:avLst/>
          </a:prstGeom>
          <a:noFill/>
          <a:ln/>
        </p:spPr>
        <p:txBody>
          <a:bodyPr wrap="square" lIns="0" tIns="0" rIns="0" bIns="0" rtlCol="0" anchor="ctr"/>
          <a:lstStyle/>
          <a:p>
            <a:pPr marL="0" indent="0">
              <a:buNone/>
            </a:pPr>
            <a:r>
              <a:rPr lang="en-US" sz="1200" dirty="0">
                <a:solidFill>
                  <a:srgbClr val="1B2B3A"/>
                </a:solidFill>
                <a:latin typeface="Calibri" pitchFamily="34" charset="0"/>
                <a:ea typeface="Calibri" pitchFamily="34" charset="-122"/>
                <a:cs typeface="Calibri" pitchFamily="34" charset="-120"/>
              </a:rPr>
              <a:t>Baseline average reward</a:t>
            </a:r>
            <a:endParaRPr lang="en-US" sz="1200" dirty="0"/>
          </a:p>
        </p:txBody>
      </p:sp>
      <p:sp>
        <p:nvSpPr>
          <p:cNvPr id="12" name="Shape 9"/>
          <p:cNvSpPr/>
          <p:nvPr/>
        </p:nvSpPr>
        <p:spPr>
          <a:xfrm>
            <a:off x="5852160" y="3291840"/>
            <a:ext cx="2834640" cy="960120"/>
          </a:xfrm>
          <a:prstGeom prst="roundRect">
            <a:avLst>
              <a:gd name="adj" fmla="val 7619"/>
            </a:avLst>
          </a:prstGeom>
          <a:solidFill>
            <a:srgbClr val="F2F7FA"/>
          </a:solidFill>
          <a:ln w="9525">
            <a:solidFill>
              <a:srgbClr val="DCE6EE"/>
            </a:solidFill>
            <a:prstDash val="solid"/>
          </a:ln>
        </p:spPr>
      </p:sp>
      <p:sp>
        <p:nvSpPr>
          <p:cNvPr id="13" name="Text 10"/>
          <p:cNvSpPr txBox="1"/>
          <p:nvPr/>
        </p:nvSpPr>
        <p:spPr>
          <a:xfrm>
            <a:off x="5989320" y="3291840"/>
            <a:ext cx="1463040" cy="960120"/>
          </a:xfrm>
          <a:prstGeom prst="rect">
            <a:avLst/>
          </a:prstGeom>
          <a:noFill/>
          <a:ln/>
        </p:spPr>
        <p:txBody>
          <a:bodyPr wrap="square" lIns="0" tIns="0" rIns="0" bIns="0" rtlCol="0" anchor="ctr"/>
          <a:lstStyle/>
          <a:p>
            <a:pPr marL="0" indent="0">
              <a:buNone/>
            </a:pPr>
            <a:r>
              <a:rPr lang="en-US" sz="3000" b="1" dirty="0">
                <a:solidFill>
                  <a:srgbClr val="F5A524"/>
                </a:solidFill>
                <a:latin typeface="Calibri" pitchFamily="34" charset="0"/>
                <a:ea typeface="Calibri" pitchFamily="34" charset="-122"/>
                <a:cs typeface="Calibri" pitchFamily="34" charset="-120"/>
              </a:rPr>
              <a:t>+4.2%</a:t>
            </a:r>
            <a:endParaRPr lang="en-US" sz="3000" dirty="0"/>
          </a:p>
        </p:txBody>
      </p:sp>
      <p:sp>
        <p:nvSpPr>
          <p:cNvPr id="14" name="Text 11"/>
          <p:cNvSpPr txBox="1"/>
          <p:nvPr/>
        </p:nvSpPr>
        <p:spPr>
          <a:xfrm>
            <a:off x="7452360" y="3291840"/>
            <a:ext cx="1188720" cy="960120"/>
          </a:xfrm>
          <a:prstGeom prst="rect">
            <a:avLst/>
          </a:prstGeom>
          <a:noFill/>
          <a:ln/>
        </p:spPr>
        <p:txBody>
          <a:bodyPr wrap="square" lIns="0" tIns="0" rIns="0" bIns="0" rtlCol="0" anchor="ctr"/>
          <a:lstStyle/>
          <a:p>
            <a:pPr marL="0" indent="0">
              <a:buNone/>
            </a:pPr>
            <a:r>
              <a:rPr lang="en-US" sz="1200" dirty="0">
                <a:solidFill>
                  <a:srgbClr val="1B2B3A"/>
                </a:solidFill>
                <a:latin typeface="Calibri" pitchFamily="34" charset="0"/>
                <a:ea typeface="Calibri" pitchFamily="34" charset="-122"/>
                <a:cs typeface="Calibri" pitchFamily="34" charset="-120"/>
              </a:rPr>
              <a:t>Reward improvement</a:t>
            </a:r>
            <a:endParaRPr lang="en-US" sz="1200" dirty="0"/>
          </a:p>
        </p:txBody>
      </p:sp>
      <p:sp>
        <p:nvSpPr>
          <p:cNvPr id="15" name="Text 12"/>
          <p:cNvSpPr txBox="1"/>
          <p:nvPr/>
        </p:nvSpPr>
        <p:spPr>
          <a:xfrm>
            <a:off x="457200" y="4389120"/>
            <a:ext cx="8229600" cy="36576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SAC also had lower estimated delay: 8.15 s vs 9.56 s, and slightly higher throughput: 4.32 vs 4.27 Mbps.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libri" pitchFamily="34" charset="0"/>
                <a:ea typeface="Calibri" pitchFamily="34" charset="-122"/>
                <a:cs typeface="Calibri" pitchFamily="34" charset="-120"/>
              </a:rPr>
              <a:t>Results: 6, 8 and 10 Users</a:t>
            </a:r>
            <a:endParaRPr lang="en-US" sz="3200" dirty="0"/>
          </a:p>
        </p:txBody>
      </p:sp>
      <p:sp>
        <p:nvSpPr>
          <p:cNvPr id="3" name="Shape 1"/>
          <p:cNvSpPr/>
          <p:nvPr/>
        </p:nvSpPr>
        <p:spPr>
          <a:xfrm>
            <a:off x="457200" y="1051560"/>
            <a:ext cx="4480560" cy="2606040"/>
          </a:xfrm>
          <a:prstGeom prst="roundRect">
            <a:avLst>
              <a:gd name="adj" fmla="val 1754"/>
            </a:avLst>
          </a:prstGeom>
          <a:solidFill>
            <a:srgbClr val="FFFFFF"/>
          </a:solidFill>
          <a:ln w="12700">
            <a:solidFill>
              <a:srgbClr val="DCE6EE"/>
            </a:solidFill>
            <a:prstDash val="solid"/>
          </a:ln>
          <a:effectLst>
            <a:outerShdw blurRad="101600" dist="25400" dir="5400000" algn="bl" rotWithShape="0">
              <a:srgbClr val="000000">
                <a:alpha val="12000"/>
              </a:srgbClr>
            </a:outerShdw>
          </a:effectLst>
        </p:spPr>
      </p:sp>
      <p:pic>
        <p:nvPicPr>
          <p:cNvPr id="4" name="Image 0" descr="comparison_chart.png"/>
          <p:cNvPicPr>
            <a:picLocks noChangeAspect="1"/>
          </p:cNvPicPr>
          <p:nvPr/>
        </p:nvPicPr>
        <p:blipFill>
          <a:blip r:embed="rId3"/>
          <a:stretch>
            <a:fillRect/>
          </a:stretch>
        </p:blipFill>
        <p:spPr>
          <a:xfrm>
            <a:off x="530352" y="1097280"/>
            <a:ext cx="4334256" cy="2441448"/>
          </a:xfrm>
          <a:prstGeom prst="rect">
            <a:avLst/>
          </a:prstGeom>
        </p:spPr>
      </p:pic>
      <p:sp>
        <p:nvSpPr>
          <p:cNvPr id="5" name="Shape 2"/>
          <p:cNvSpPr/>
          <p:nvPr/>
        </p:nvSpPr>
        <p:spPr>
          <a:xfrm>
            <a:off x="5166360" y="1051560"/>
            <a:ext cx="3520440" cy="777240"/>
          </a:xfrm>
          <a:prstGeom prst="roundRect">
            <a:avLst>
              <a:gd name="adj" fmla="val 9412"/>
            </a:avLst>
          </a:prstGeom>
          <a:solidFill>
            <a:srgbClr val="FFFFFF"/>
          </a:solidFill>
          <a:ln w="9525">
            <a:solidFill>
              <a:srgbClr val="DCE6EE"/>
            </a:solidFill>
            <a:prstDash val="solid"/>
          </a:ln>
        </p:spPr>
      </p:sp>
      <p:sp>
        <p:nvSpPr>
          <p:cNvPr id="6" name="Shape 3"/>
          <p:cNvSpPr/>
          <p:nvPr/>
        </p:nvSpPr>
        <p:spPr>
          <a:xfrm>
            <a:off x="5303520" y="1307592"/>
            <a:ext cx="256032" cy="256032"/>
          </a:xfrm>
          <a:prstGeom prst="ellipse">
            <a:avLst/>
          </a:prstGeom>
          <a:solidFill>
            <a:srgbClr val="2E9E5B"/>
          </a:solidFill>
          <a:ln w="12700">
            <a:solidFill>
              <a:srgbClr val="2E9E5B"/>
            </a:solidFill>
            <a:prstDash val="solid"/>
          </a:ln>
        </p:spPr>
      </p:sp>
      <p:sp>
        <p:nvSpPr>
          <p:cNvPr id="7" name="Text 4"/>
          <p:cNvSpPr txBox="1"/>
          <p:nvPr/>
        </p:nvSpPr>
        <p:spPr>
          <a:xfrm>
            <a:off x="5715000" y="1051560"/>
            <a:ext cx="2880360" cy="777240"/>
          </a:xfrm>
          <a:prstGeom prst="rect">
            <a:avLst/>
          </a:prstGeom>
          <a:noFill/>
          <a:ln/>
        </p:spPr>
        <p:txBody>
          <a:bodyPr wrap="square" lIns="0" tIns="0" rIns="0" bIns="0" rtlCol="0" anchor="ctr"/>
          <a:lstStyle/>
          <a:p>
            <a:pPr marL="0" indent="0">
              <a:buNone/>
            </a:pPr>
            <a:r>
              <a:rPr lang="en-US" sz="1200" dirty="0">
                <a:solidFill>
                  <a:srgbClr val="1B2B3A"/>
                </a:solidFill>
                <a:latin typeface="Calibri" pitchFamily="34" charset="0"/>
                <a:ea typeface="Calibri" pitchFamily="34" charset="-122"/>
                <a:cs typeface="Calibri" pitchFamily="34" charset="-120"/>
              </a:rPr>
              <a:t>SAC scores higher at 8 and 10 users, but lower at 6 users.</a:t>
            </a:r>
            <a:endParaRPr lang="en-US" sz="1200" dirty="0"/>
          </a:p>
        </p:txBody>
      </p:sp>
      <p:sp>
        <p:nvSpPr>
          <p:cNvPr id="8" name="Shape 5"/>
          <p:cNvSpPr/>
          <p:nvPr/>
        </p:nvSpPr>
        <p:spPr>
          <a:xfrm>
            <a:off x="5166360" y="1938528"/>
            <a:ext cx="3520440" cy="777240"/>
          </a:xfrm>
          <a:prstGeom prst="roundRect">
            <a:avLst>
              <a:gd name="adj" fmla="val 9412"/>
            </a:avLst>
          </a:prstGeom>
          <a:solidFill>
            <a:srgbClr val="FFFFFF"/>
          </a:solidFill>
          <a:ln w="9525">
            <a:solidFill>
              <a:srgbClr val="DCE6EE"/>
            </a:solidFill>
            <a:prstDash val="solid"/>
          </a:ln>
        </p:spPr>
      </p:sp>
      <p:sp>
        <p:nvSpPr>
          <p:cNvPr id="9" name="Shape 6"/>
          <p:cNvSpPr/>
          <p:nvPr/>
        </p:nvSpPr>
        <p:spPr>
          <a:xfrm>
            <a:off x="5303520" y="2194560"/>
            <a:ext cx="256032" cy="256032"/>
          </a:xfrm>
          <a:prstGeom prst="ellipse">
            <a:avLst/>
          </a:prstGeom>
          <a:solidFill>
            <a:srgbClr val="F5A524"/>
          </a:solidFill>
          <a:ln w="12700">
            <a:solidFill>
              <a:srgbClr val="F5A524"/>
            </a:solidFill>
            <a:prstDash val="solid"/>
          </a:ln>
        </p:spPr>
      </p:sp>
      <p:sp>
        <p:nvSpPr>
          <p:cNvPr id="10" name="Text 7"/>
          <p:cNvSpPr txBox="1"/>
          <p:nvPr/>
        </p:nvSpPr>
        <p:spPr>
          <a:xfrm>
            <a:off x="5715000" y="1938528"/>
            <a:ext cx="2880360" cy="777240"/>
          </a:xfrm>
          <a:prstGeom prst="rect">
            <a:avLst/>
          </a:prstGeom>
          <a:noFill/>
          <a:ln/>
        </p:spPr>
        <p:txBody>
          <a:bodyPr wrap="square" lIns="0" tIns="0" rIns="0" bIns="0" rtlCol="0" anchor="ctr"/>
          <a:lstStyle/>
          <a:p>
            <a:pPr marL="0" indent="0">
              <a:buNone/>
            </a:pPr>
            <a:r>
              <a:rPr lang="en-US" sz="1200" dirty="0">
                <a:solidFill>
                  <a:srgbClr val="1B2B3A"/>
                </a:solidFill>
                <a:latin typeface="Calibri" pitchFamily="34" charset="0"/>
                <a:ea typeface="Calibri" pitchFamily="34" charset="-122"/>
                <a:cs typeface="Calibri" pitchFamily="34" charset="-120"/>
              </a:rPr>
              <a:t>Delay improved at 8 and 10 users, but priority satisfaction dropped in all three cases.</a:t>
            </a:r>
            <a:endParaRPr lang="en-US" sz="1200" dirty="0"/>
          </a:p>
        </p:txBody>
      </p:sp>
      <p:sp>
        <p:nvSpPr>
          <p:cNvPr id="11" name="Shape 8"/>
          <p:cNvSpPr/>
          <p:nvPr/>
        </p:nvSpPr>
        <p:spPr>
          <a:xfrm>
            <a:off x="5166360" y="2825496"/>
            <a:ext cx="3520440" cy="777240"/>
          </a:xfrm>
          <a:prstGeom prst="roundRect">
            <a:avLst>
              <a:gd name="adj" fmla="val 9412"/>
            </a:avLst>
          </a:prstGeom>
          <a:solidFill>
            <a:srgbClr val="FFFFFF"/>
          </a:solidFill>
          <a:ln w="9525">
            <a:solidFill>
              <a:srgbClr val="DCE6EE"/>
            </a:solidFill>
            <a:prstDash val="solid"/>
          </a:ln>
        </p:spPr>
      </p:sp>
      <p:sp>
        <p:nvSpPr>
          <p:cNvPr id="12" name="Shape 9"/>
          <p:cNvSpPr/>
          <p:nvPr/>
        </p:nvSpPr>
        <p:spPr>
          <a:xfrm>
            <a:off x="5303520" y="3081528"/>
            <a:ext cx="256032" cy="256032"/>
          </a:xfrm>
          <a:prstGeom prst="ellipse">
            <a:avLst/>
          </a:prstGeom>
          <a:solidFill>
            <a:srgbClr val="13A89E"/>
          </a:solidFill>
          <a:ln w="12700">
            <a:solidFill>
              <a:srgbClr val="13A89E"/>
            </a:solidFill>
            <a:prstDash val="solid"/>
          </a:ln>
        </p:spPr>
      </p:sp>
      <p:sp>
        <p:nvSpPr>
          <p:cNvPr id="13" name="Text 10"/>
          <p:cNvSpPr txBox="1"/>
          <p:nvPr/>
        </p:nvSpPr>
        <p:spPr>
          <a:xfrm>
            <a:off x="5715000" y="2825496"/>
            <a:ext cx="2880360" cy="777240"/>
          </a:xfrm>
          <a:prstGeom prst="rect">
            <a:avLst/>
          </a:prstGeom>
          <a:noFill/>
          <a:ln/>
        </p:spPr>
        <p:txBody>
          <a:bodyPr wrap="square" lIns="0" tIns="0" rIns="0" bIns="0" rtlCol="0" anchor="ctr"/>
          <a:lstStyle/>
          <a:p>
            <a:pPr marL="0" indent="0">
              <a:buNone/>
            </a:pPr>
            <a:r>
              <a:rPr lang="en-US" sz="1200" dirty="0">
                <a:solidFill>
                  <a:srgbClr val="1B2B3A"/>
                </a:solidFill>
                <a:latin typeface="Calibri" pitchFamily="34" charset="0"/>
                <a:ea typeface="Calibri" pitchFamily="34" charset="-122"/>
                <a:cs typeface="Calibri" pitchFamily="34" charset="-120"/>
              </a:rPr>
              <a:t>Reward falls as more users share the same 1 MHz.</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794760"/>
          <a:ext cx="8229600" cy="1036320"/>
        </p:xfrm>
        <a:graphic>
          <a:graphicData uri="http://schemas.openxmlformats.org/drawingml/2006/table">
            <a:tbl>
              <a:tblPr/>
              <a:tblGrid>
                <a:gridCol w="7315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688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Users</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Reward (Base &gt; SAC)</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Delay s (Base &gt; SAC)</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Priority met (Base &gt; SAC)</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Mbps (Base &gt; SAC)</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46888">
                <a:tc>
                  <a:txBody>
                    <a:bodyPr/>
                    <a:lstStyle/>
                    <a:p>
                      <a:pPr marL="0" indent="0" algn="ctr">
                        <a:buNone/>
                      </a:pPr>
                      <a:r>
                        <a:rPr lang="en-US" sz="1100" b="1" dirty="0">
                          <a:solidFill>
                            <a:srgbClr val="1B2B3A"/>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733.5 &gt; 631.5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6.61 &gt; 7.19</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1.00 &gt; 0.81</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5.52 &gt; 4.68</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ctr">
                        <a:buNone/>
                      </a:pPr>
                      <a:r>
                        <a:rPr lang="en-US" sz="1100" b="1" dirty="0">
                          <a:solidFill>
                            <a:srgbClr val="1B2B3A"/>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522.1 &gt; 544.0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9.56 &gt; 8.15</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1.00 &gt; 0.50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4.27 &gt; 4.32</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ctr">
                        <a:buNone/>
                      </a:pPr>
                      <a:r>
                        <a:rPr lang="en-US" sz="1100" b="1" dirty="0">
                          <a:solidFill>
                            <a:srgbClr val="1B2B3A"/>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374.1 &gt; 424.2</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10.00 &gt; 9.39</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0.69 &gt; 0.48</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A"/>
                          </a:solidFill>
                          <a:latin typeface="Calibri" pitchFamily="34" charset="0"/>
                          <a:ea typeface="Calibri" pitchFamily="34" charset="-122"/>
                          <a:cs typeface="Calibri" pitchFamily="34" charset="-120"/>
                        </a:rPr>
                        <a:t>3.29 &gt; 3.52</a:t>
                      </a:r>
                      <a:endParaRPr lang="en-US" sz="1100" dirty="0">
                        <a:latin typeface="Calibri" charset="0"/>
                        <a:ea typeface="Calibri" charset="0"/>
                        <a:cs typeface="Calibri" charset="0"/>
                      </a:endParaRPr>
                    </a:p>
                  </a:txBody>
                  <a:tcPr anchor="ctr">
                    <a:lnL w="6350" cap="flat" cmpd="sng" algn="ctr">
                      <a:solidFill>
                        <a:srgbClr val="DCE6EE"/>
                      </a:solidFill>
                      <a:prstDash val="solid"/>
                      <a:round/>
                      <a:headEnd type="none" w="med" len="med"/>
                      <a:tailEnd type="none" w="med" len="med"/>
                    </a:lnL>
                    <a:lnR w="6350" cap="flat" cmpd="sng" algn="ctr">
                      <a:solidFill>
                        <a:srgbClr val="DCE6EE"/>
                      </a:solidFill>
                      <a:prstDash val="solid"/>
                      <a:round/>
                      <a:headEnd type="none" w="med" len="med"/>
                      <a:tailEnd type="none" w="med" len="med"/>
                    </a:lnR>
                    <a:lnT w="6350" cap="flat" cmpd="sng" algn="ctr">
                      <a:solidFill>
                        <a:srgbClr val="DCE6EE"/>
                      </a:solidFill>
                      <a:prstDash val="solid"/>
                      <a:round/>
                      <a:headEnd type="none" w="med" len="med"/>
                      <a:tailEnd type="none" w="med" len="med"/>
                    </a:lnT>
                    <a:lnB w="6350"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libri" pitchFamily="34" charset="0"/>
                <a:ea typeface="Calibri" pitchFamily="34" charset="-122"/>
                <a:cs typeface="Calibri" pitchFamily="34" charset="-120"/>
              </a:rPr>
              <a:t>Current Progress &amp; Remaining Work</a:t>
            </a:r>
            <a:endParaRPr lang="en-US" sz="3200" dirty="0"/>
          </a:p>
        </p:txBody>
      </p:sp>
      <p:sp>
        <p:nvSpPr>
          <p:cNvPr id="3" name="Shape 1"/>
          <p:cNvSpPr/>
          <p:nvPr/>
        </p:nvSpPr>
        <p:spPr>
          <a:xfrm>
            <a:off x="457200" y="1097280"/>
            <a:ext cx="4023360" cy="3566160"/>
          </a:xfrm>
          <a:prstGeom prst="roundRect">
            <a:avLst>
              <a:gd name="adj" fmla="val 2564"/>
            </a:avLst>
          </a:prstGeom>
          <a:solidFill>
            <a:srgbClr val="EAF6EF"/>
          </a:solidFill>
          <a:ln w="12700">
            <a:solidFill>
              <a:srgbClr val="2E9E5B"/>
            </a:solidFill>
            <a:prstDash val="solid"/>
          </a:ln>
        </p:spPr>
      </p:sp>
      <p:sp>
        <p:nvSpPr>
          <p:cNvPr id="4" name="Text 2"/>
          <p:cNvSpPr txBox="1"/>
          <p:nvPr/>
        </p:nvSpPr>
        <p:spPr>
          <a:xfrm>
            <a:off x="685800" y="1188720"/>
            <a:ext cx="3566160" cy="365760"/>
          </a:xfrm>
          <a:prstGeom prst="rect">
            <a:avLst/>
          </a:prstGeom>
          <a:noFill/>
          <a:ln/>
        </p:spPr>
        <p:txBody>
          <a:bodyPr wrap="square" lIns="0" tIns="0" rIns="0" bIns="0" rtlCol="0" anchor="ctr"/>
          <a:lstStyle/>
          <a:p>
            <a:pPr marL="0" indent="0">
              <a:buNone/>
            </a:pPr>
            <a:r>
              <a:rPr lang="en-US" sz="1800" b="1" dirty="0">
                <a:solidFill>
                  <a:srgbClr val="1E6B3E"/>
                </a:solidFill>
                <a:latin typeface="Calibri" pitchFamily="34" charset="0"/>
                <a:ea typeface="Calibri" pitchFamily="34" charset="-122"/>
                <a:cs typeface="Calibri" pitchFamily="34" charset="-120"/>
              </a:rPr>
              <a:t>Completed</a:t>
            </a:r>
            <a:endParaRPr lang="en-US" sz="1800" dirty="0"/>
          </a:p>
        </p:txBody>
      </p:sp>
      <p:pic>
        <p:nvPicPr>
          <p:cNvPr id="5" name="Image 0" descr="preencoded.png"/>
          <p:cNvPicPr>
            <a:picLocks noChangeAspect="1"/>
          </p:cNvPicPr>
          <p:nvPr/>
        </p:nvPicPr>
        <p:blipFill>
          <a:blip r:embed="rId3"/>
          <a:stretch>
            <a:fillRect/>
          </a:stretch>
        </p:blipFill>
        <p:spPr>
          <a:xfrm>
            <a:off x="685800" y="1700784"/>
            <a:ext cx="256032" cy="256032"/>
          </a:xfrm>
          <a:prstGeom prst="rect">
            <a:avLst/>
          </a:prstGeom>
        </p:spPr>
      </p:pic>
      <p:sp>
        <p:nvSpPr>
          <p:cNvPr id="6" name="Text 3"/>
          <p:cNvSpPr txBox="1"/>
          <p:nvPr/>
        </p:nvSpPr>
        <p:spPr>
          <a:xfrm>
            <a:off x="1051560" y="1645920"/>
            <a:ext cx="3337560" cy="36576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8-user dataset (plus 6 and 10 user versions)</a:t>
            </a:r>
            <a:endParaRPr lang="en-US" sz="1250" dirty="0"/>
          </a:p>
        </p:txBody>
      </p:sp>
      <p:pic>
        <p:nvPicPr>
          <p:cNvPr id="7" name="Image 1" descr="preencoded.png"/>
          <p:cNvPicPr>
            <a:picLocks noChangeAspect="1"/>
          </p:cNvPicPr>
          <p:nvPr/>
        </p:nvPicPr>
        <p:blipFill>
          <a:blip r:embed="rId3"/>
          <a:stretch>
            <a:fillRect/>
          </a:stretch>
        </p:blipFill>
        <p:spPr>
          <a:xfrm>
            <a:off x="685800" y="2157984"/>
            <a:ext cx="256032" cy="256032"/>
          </a:xfrm>
          <a:prstGeom prst="rect">
            <a:avLst/>
          </a:prstGeom>
        </p:spPr>
      </p:pic>
      <p:sp>
        <p:nvSpPr>
          <p:cNvPr id="8" name="Text 4"/>
          <p:cNvSpPr txBox="1"/>
          <p:nvPr/>
        </p:nvSpPr>
        <p:spPr>
          <a:xfrm>
            <a:off x="1051560" y="2103120"/>
            <a:ext cx="3337560" cy="36576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Gymnasium simulator with reward design</a:t>
            </a:r>
            <a:endParaRPr lang="en-US" sz="1250" dirty="0"/>
          </a:p>
        </p:txBody>
      </p:sp>
      <p:pic>
        <p:nvPicPr>
          <p:cNvPr id="9" name="Image 2" descr="preencoded.png"/>
          <p:cNvPicPr>
            <a:picLocks noChangeAspect="1"/>
          </p:cNvPicPr>
          <p:nvPr/>
        </p:nvPicPr>
        <p:blipFill>
          <a:blip r:embed="rId3"/>
          <a:stretch>
            <a:fillRect/>
          </a:stretch>
        </p:blipFill>
        <p:spPr>
          <a:xfrm>
            <a:off x="685800" y="2615184"/>
            <a:ext cx="256032" cy="256032"/>
          </a:xfrm>
          <a:prstGeom prst="rect">
            <a:avLst/>
          </a:prstGeom>
        </p:spPr>
      </p:pic>
      <p:sp>
        <p:nvSpPr>
          <p:cNvPr id="10" name="Text 5"/>
          <p:cNvSpPr txBox="1"/>
          <p:nvPr/>
        </p:nvSpPr>
        <p:spPr>
          <a:xfrm>
            <a:off x="1051560" y="2560320"/>
            <a:ext cx="3337560" cy="36576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SAC trained for 6, 8 and 10 users</a:t>
            </a:r>
            <a:endParaRPr lang="en-US" sz="1250" dirty="0"/>
          </a:p>
        </p:txBody>
      </p:sp>
      <p:pic>
        <p:nvPicPr>
          <p:cNvPr id="11" name="Image 3" descr="preencoded.png"/>
          <p:cNvPicPr>
            <a:picLocks noChangeAspect="1"/>
          </p:cNvPicPr>
          <p:nvPr/>
        </p:nvPicPr>
        <p:blipFill>
          <a:blip r:embed="rId3"/>
          <a:stretch>
            <a:fillRect/>
          </a:stretch>
        </p:blipFill>
        <p:spPr>
          <a:xfrm>
            <a:off x="685800" y="3072384"/>
            <a:ext cx="256032" cy="256032"/>
          </a:xfrm>
          <a:prstGeom prst="rect">
            <a:avLst/>
          </a:prstGeom>
        </p:spPr>
      </p:pic>
      <p:sp>
        <p:nvSpPr>
          <p:cNvPr id="12" name="Text 6"/>
          <p:cNvSpPr txBox="1"/>
          <p:nvPr/>
        </p:nvSpPr>
        <p:spPr>
          <a:xfrm>
            <a:off x="1051560" y="3017520"/>
            <a:ext cx="3337560" cy="36576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20-episode evaluation vs baseline</a:t>
            </a:r>
            <a:endParaRPr lang="en-US" sz="1250" dirty="0"/>
          </a:p>
        </p:txBody>
      </p:sp>
      <p:pic>
        <p:nvPicPr>
          <p:cNvPr id="13" name="Image 4" descr="preencoded.png"/>
          <p:cNvPicPr>
            <a:picLocks noChangeAspect="1"/>
          </p:cNvPicPr>
          <p:nvPr/>
        </p:nvPicPr>
        <p:blipFill>
          <a:blip r:embed="rId3"/>
          <a:stretch>
            <a:fillRect/>
          </a:stretch>
        </p:blipFill>
        <p:spPr>
          <a:xfrm>
            <a:off x="685800" y="3529584"/>
            <a:ext cx="256032" cy="256032"/>
          </a:xfrm>
          <a:prstGeom prst="rect">
            <a:avLst/>
          </a:prstGeom>
        </p:spPr>
      </p:pic>
      <p:sp>
        <p:nvSpPr>
          <p:cNvPr id="14" name="Text 7"/>
          <p:cNvSpPr txBox="1"/>
          <p:nvPr/>
        </p:nvSpPr>
        <p:spPr>
          <a:xfrm>
            <a:off x="1051560" y="3474720"/>
            <a:ext cx="3337560" cy="36576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Result charts and CSV files saved</a:t>
            </a:r>
            <a:endParaRPr lang="en-US" sz="1250" dirty="0"/>
          </a:p>
        </p:txBody>
      </p:sp>
      <p:pic>
        <p:nvPicPr>
          <p:cNvPr id="15" name="Image 5" descr="preencoded.png"/>
          <p:cNvPicPr>
            <a:picLocks noChangeAspect="1"/>
          </p:cNvPicPr>
          <p:nvPr/>
        </p:nvPicPr>
        <p:blipFill>
          <a:blip r:embed="rId3"/>
          <a:stretch>
            <a:fillRect/>
          </a:stretch>
        </p:blipFill>
        <p:spPr>
          <a:xfrm>
            <a:off x="685800" y="3986784"/>
            <a:ext cx="256032" cy="256032"/>
          </a:xfrm>
          <a:prstGeom prst="rect">
            <a:avLst/>
          </a:prstGeom>
        </p:spPr>
      </p:pic>
      <p:sp>
        <p:nvSpPr>
          <p:cNvPr id="16" name="Text 8"/>
          <p:cNvSpPr txBox="1"/>
          <p:nvPr/>
        </p:nvSpPr>
        <p:spPr>
          <a:xfrm>
            <a:off x="1051560" y="3931920"/>
            <a:ext cx="3337560" cy="36576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Flask dashboard for results</a:t>
            </a:r>
            <a:endParaRPr lang="en-US" sz="1250" dirty="0"/>
          </a:p>
        </p:txBody>
      </p:sp>
      <p:sp>
        <p:nvSpPr>
          <p:cNvPr id="17" name="Shape 9"/>
          <p:cNvSpPr/>
          <p:nvPr/>
        </p:nvSpPr>
        <p:spPr>
          <a:xfrm>
            <a:off x="4663440" y="1097280"/>
            <a:ext cx="4023360" cy="3566160"/>
          </a:xfrm>
          <a:prstGeom prst="roundRect">
            <a:avLst>
              <a:gd name="adj" fmla="val 2564"/>
            </a:avLst>
          </a:prstGeom>
          <a:solidFill>
            <a:srgbClr val="FEF3DF"/>
          </a:solidFill>
          <a:ln w="12700">
            <a:solidFill>
              <a:srgbClr val="F5A524"/>
            </a:solidFill>
            <a:prstDash val="solid"/>
          </a:ln>
        </p:spPr>
      </p:sp>
      <p:sp>
        <p:nvSpPr>
          <p:cNvPr id="18" name="Text 10"/>
          <p:cNvSpPr txBox="1"/>
          <p:nvPr/>
        </p:nvSpPr>
        <p:spPr>
          <a:xfrm>
            <a:off x="4892040" y="1188720"/>
            <a:ext cx="3566160" cy="365760"/>
          </a:xfrm>
          <a:prstGeom prst="rect">
            <a:avLst/>
          </a:prstGeom>
          <a:noFill/>
          <a:ln/>
        </p:spPr>
        <p:txBody>
          <a:bodyPr wrap="square" lIns="0" tIns="0" rIns="0" bIns="0" rtlCol="0" anchor="ctr"/>
          <a:lstStyle/>
          <a:p>
            <a:pPr marL="0" indent="0">
              <a:buNone/>
            </a:pPr>
            <a:r>
              <a:rPr lang="en-US" sz="1800" b="1" dirty="0">
                <a:solidFill>
                  <a:srgbClr val="9A5B00"/>
                </a:solidFill>
                <a:latin typeface="Calibri" pitchFamily="34" charset="0"/>
                <a:ea typeface="Calibri" pitchFamily="34" charset="-122"/>
                <a:cs typeface="Calibri" pitchFamily="34" charset="-120"/>
              </a:rPr>
              <a:t>Remaining work</a:t>
            </a:r>
            <a:endParaRPr lang="en-US" sz="1800" dirty="0"/>
          </a:p>
        </p:txBody>
      </p:sp>
      <p:pic>
        <p:nvPicPr>
          <p:cNvPr id="19" name="Image 6" descr="preencoded.png"/>
          <p:cNvPicPr>
            <a:picLocks noChangeAspect="1"/>
          </p:cNvPicPr>
          <p:nvPr/>
        </p:nvPicPr>
        <p:blipFill>
          <a:blip r:embed="rId4"/>
          <a:stretch>
            <a:fillRect/>
          </a:stretch>
        </p:blipFill>
        <p:spPr>
          <a:xfrm>
            <a:off x="4892040" y="1700784"/>
            <a:ext cx="256032" cy="256032"/>
          </a:xfrm>
          <a:prstGeom prst="rect">
            <a:avLst/>
          </a:prstGeom>
        </p:spPr>
      </p:pic>
      <p:sp>
        <p:nvSpPr>
          <p:cNvPr id="20" name="Text 11"/>
          <p:cNvSpPr txBox="1"/>
          <p:nvPr/>
        </p:nvSpPr>
        <p:spPr>
          <a:xfrm>
            <a:off x="5257800" y="1645920"/>
            <a:ext cx="3337560" cy="45720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Tune reward weights to raise priority satisfaction</a:t>
            </a:r>
            <a:endParaRPr lang="en-US" sz="1250" dirty="0"/>
          </a:p>
        </p:txBody>
      </p:sp>
      <p:pic>
        <p:nvPicPr>
          <p:cNvPr id="21" name="Image 7" descr="preencoded.png"/>
          <p:cNvPicPr>
            <a:picLocks noChangeAspect="1"/>
          </p:cNvPicPr>
          <p:nvPr/>
        </p:nvPicPr>
        <p:blipFill>
          <a:blip r:embed="rId4"/>
          <a:stretch>
            <a:fillRect/>
          </a:stretch>
        </p:blipFill>
        <p:spPr>
          <a:xfrm>
            <a:off x="4892040" y="2249424"/>
            <a:ext cx="256032" cy="256032"/>
          </a:xfrm>
          <a:prstGeom prst="rect">
            <a:avLst/>
          </a:prstGeom>
        </p:spPr>
      </p:pic>
      <p:sp>
        <p:nvSpPr>
          <p:cNvPr id="22" name="Text 12"/>
          <p:cNvSpPr txBox="1"/>
          <p:nvPr/>
        </p:nvSpPr>
        <p:spPr>
          <a:xfrm>
            <a:off x="5257800" y="2194560"/>
            <a:ext cx="3337560" cy="45720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Repeat training with several seeds and confidence intervals</a:t>
            </a:r>
            <a:endParaRPr lang="en-US" sz="1250" dirty="0"/>
          </a:p>
        </p:txBody>
      </p:sp>
      <p:pic>
        <p:nvPicPr>
          <p:cNvPr id="23" name="Image 8" descr="preencoded.png"/>
          <p:cNvPicPr>
            <a:picLocks noChangeAspect="1"/>
          </p:cNvPicPr>
          <p:nvPr/>
        </p:nvPicPr>
        <p:blipFill>
          <a:blip r:embed="rId4"/>
          <a:stretch>
            <a:fillRect/>
          </a:stretch>
        </p:blipFill>
        <p:spPr>
          <a:xfrm>
            <a:off x="4892040" y="2798064"/>
            <a:ext cx="256032" cy="256032"/>
          </a:xfrm>
          <a:prstGeom prst="rect">
            <a:avLst/>
          </a:prstGeom>
        </p:spPr>
      </p:pic>
      <p:sp>
        <p:nvSpPr>
          <p:cNvPr id="24" name="Text 13"/>
          <p:cNvSpPr txBox="1"/>
          <p:nvPr/>
        </p:nvSpPr>
        <p:spPr>
          <a:xfrm>
            <a:off x="5257800" y="2743200"/>
            <a:ext cx="3337560" cy="45720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Add a real semantic model (accuracy), not just priority</a:t>
            </a:r>
            <a:endParaRPr lang="en-US" sz="1250" dirty="0"/>
          </a:p>
        </p:txBody>
      </p:sp>
      <p:pic>
        <p:nvPicPr>
          <p:cNvPr id="25" name="Image 9" descr="preencoded.png"/>
          <p:cNvPicPr>
            <a:picLocks noChangeAspect="1"/>
          </p:cNvPicPr>
          <p:nvPr/>
        </p:nvPicPr>
        <p:blipFill>
          <a:blip r:embed="rId4"/>
          <a:stretch>
            <a:fillRect/>
          </a:stretch>
        </p:blipFill>
        <p:spPr>
          <a:xfrm>
            <a:off x="4892040" y="3346704"/>
            <a:ext cx="256032" cy="256032"/>
          </a:xfrm>
          <a:prstGeom prst="rect">
            <a:avLst/>
          </a:prstGeom>
        </p:spPr>
      </p:pic>
      <p:sp>
        <p:nvSpPr>
          <p:cNvPr id="26" name="Text 14"/>
          <p:cNvSpPr txBox="1"/>
          <p:nvPr/>
        </p:nvSpPr>
        <p:spPr>
          <a:xfrm>
            <a:off x="5257800" y="3291840"/>
            <a:ext cx="3337560" cy="45720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Add dynamic pairing and imperfect SIC</a:t>
            </a:r>
            <a:endParaRPr lang="en-US" sz="1250" dirty="0"/>
          </a:p>
        </p:txBody>
      </p:sp>
      <p:pic>
        <p:nvPicPr>
          <p:cNvPr id="27" name="Image 10" descr="preencoded.png"/>
          <p:cNvPicPr>
            <a:picLocks noChangeAspect="1"/>
          </p:cNvPicPr>
          <p:nvPr/>
        </p:nvPicPr>
        <p:blipFill>
          <a:blip r:embed="rId4"/>
          <a:stretch>
            <a:fillRect/>
          </a:stretch>
        </p:blipFill>
        <p:spPr>
          <a:xfrm>
            <a:off x="4892040" y="3895344"/>
            <a:ext cx="256032" cy="256032"/>
          </a:xfrm>
          <a:prstGeom prst="rect">
            <a:avLst/>
          </a:prstGeom>
        </p:spPr>
      </p:pic>
      <p:sp>
        <p:nvSpPr>
          <p:cNvPr id="28" name="Text 15"/>
          <p:cNvSpPr txBox="1"/>
          <p:nvPr/>
        </p:nvSpPr>
        <p:spPr>
          <a:xfrm>
            <a:off x="5257800" y="3840480"/>
            <a:ext cx="3337560" cy="457200"/>
          </a:xfrm>
          <a:prstGeom prst="rect">
            <a:avLst/>
          </a:prstGeom>
          <a:noFill/>
          <a:ln/>
        </p:spPr>
        <p:txBody>
          <a:bodyPr wrap="square" lIns="0" tIns="0" rIns="0" bIns="0" rtlCol="0" anchor="ctr"/>
          <a:lstStyle/>
          <a:p>
            <a:pPr marL="0" indent="0">
              <a:buNone/>
            </a:pPr>
            <a:r>
              <a:rPr lang="en-US" sz="1250" dirty="0">
                <a:solidFill>
                  <a:srgbClr val="1B2B3A"/>
                </a:solidFill>
                <a:latin typeface="Calibri" pitchFamily="34" charset="0"/>
                <a:ea typeface="Calibri" pitchFamily="34" charset="-122"/>
                <a:cs typeface="Calibri" pitchFamily="34" charset="-120"/>
              </a:rPr>
              <a:t>Compare with other RL and optimization methods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3" name="Shape 1"/>
          <p:cNvSpPr/>
          <p:nvPr/>
        </p:nvSpPr>
        <p:spPr>
          <a:xfrm>
            <a:off x="457200" y="1143000"/>
            <a:ext cx="8229600" cy="777240"/>
          </a:xfrm>
          <a:prstGeom prst="roundRect">
            <a:avLst>
              <a:gd name="adj" fmla="val 11765"/>
            </a:avLst>
          </a:prstGeom>
          <a:solidFill>
            <a:srgbClr val="13315C"/>
          </a:solidFill>
          <a:ln w="12700">
            <a:solidFill>
              <a:srgbClr val="2A5A8C"/>
            </a:solidFill>
            <a:prstDash val="solid"/>
          </a:ln>
        </p:spPr>
      </p:sp>
      <p:sp>
        <p:nvSpPr>
          <p:cNvPr id="4" name="Shape 2"/>
          <p:cNvSpPr/>
          <p:nvPr/>
        </p:nvSpPr>
        <p:spPr>
          <a:xfrm>
            <a:off x="708660" y="1280160"/>
            <a:ext cx="502920" cy="502920"/>
          </a:xfrm>
          <a:prstGeom prst="ellipse">
            <a:avLst/>
          </a:prstGeom>
          <a:solidFill>
            <a:srgbClr val="13A89E"/>
          </a:solidFill>
          <a:ln w="12700">
            <a:solidFill>
              <a:srgbClr val="13A89E"/>
            </a:solidFill>
            <a:prstDash val="solid"/>
          </a:ln>
        </p:spPr>
      </p:sp>
      <p:pic>
        <p:nvPicPr>
          <p:cNvPr id="5" name="Image 0" descr="preencoded.png"/>
          <p:cNvPicPr>
            <a:picLocks noChangeAspect="1"/>
          </p:cNvPicPr>
          <p:nvPr/>
        </p:nvPicPr>
        <p:blipFill>
          <a:blip r:embed="rId3"/>
          <a:stretch>
            <a:fillRect/>
          </a:stretch>
        </p:blipFill>
        <p:spPr>
          <a:xfrm>
            <a:off x="834390" y="1405890"/>
            <a:ext cx="251460" cy="251460"/>
          </a:xfrm>
          <a:prstGeom prst="rect">
            <a:avLst/>
          </a:prstGeom>
        </p:spPr>
      </p:pic>
      <p:sp>
        <p:nvSpPr>
          <p:cNvPr id="6" name="Text 3"/>
          <p:cNvSpPr txBox="1"/>
          <p:nvPr/>
        </p:nvSpPr>
        <p:spPr>
          <a:xfrm>
            <a:off x="1417320" y="1143000"/>
            <a:ext cx="7132320" cy="7772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SAC learned a working power and time allocation policy in simulation.</a:t>
            </a:r>
            <a:endParaRPr lang="en-US" sz="1600" dirty="0"/>
          </a:p>
        </p:txBody>
      </p:sp>
      <p:sp>
        <p:nvSpPr>
          <p:cNvPr id="7" name="Shape 4"/>
          <p:cNvSpPr/>
          <p:nvPr/>
        </p:nvSpPr>
        <p:spPr>
          <a:xfrm>
            <a:off x="457200" y="2057400"/>
            <a:ext cx="8229600" cy="777240"/>
          </a:xfrm>
          <a:prstGeom prst="roundRect">
            <a:avLst>
              <a:gd name="adj" fmla="val 11765"/>
            </a:avLst>
          </a:prstGeom>
          <a:solidFill>
            <a:srgbClr val="13315C"/>
          </a:solidFill>
          <a:ln w="12700">
            <a:solidFill>
              <a:srgbClr val="2A5A8C"/>
            </a:solidFill>
            <a:prstDash val="solid"/>
          </a:ln>
        </p:spPr>
      </p:sp>
      <p:sp>
        <p:nvSpPr>
          <p:cNvPr id="8" name="Shape 5"/>
          <p:cNvSpPr/>
          <p:nvPr/>
        </p:nvSpPr>
        <p:spPr>
          <a:xfrm>
            <a:off x="708660" y="2194560"/>
            <a:ext cx="502920" cy="502920"/>
          </a:xfrm>
          <a:prstGeom prst="ellipse">
            <a:avLst/>
          </a:prstGeom>
          <a:solidFill>
            <a:srgbClr val="F5A524"/>
          </a:solidFill>
          <a:ln w="12700">
            <a:solidFill>
              <a:srgbClr val="F5A524"/>
            </a:solidFill>
            <a:prstDash val="solid"/>
          </a:ln>
        </p:spPr>
      </p:sp>
      <p:pic>
        <p:nvPicPr>
          <p:cNvPr id="9" name="Image 1" descr="preencoded.png"/>
          <p:cNvPicPr>
            <a:picLocks noChangeAspect="1"/>
          </p:cNvPicPr>
          <p:nvPr/>
        </p:nvPicPr>
        <p:blipFill>
          <a:blip r:embed="rId4"/>
          <a:stretch>
            <a:fillRect/>
          </a:stretch>
        </p:blipFill>
        <p:spPr>
          <a:xfrm>
            <a:off x="834390" y="2320290"/>
            <a:ext cx="251460" cy="251460"/>
          </a:xfrm>
          <a:prstGeom prst="rect">
            <a:avLst/>
          </a:prstGeom>
        </p:spPr>
      </p:pic>
      <p:sp>
        <p:nvSpPr>
          <p:cNvPr id="10" name="Text 6"/>
          <p:cNvSpPr txBox="1"/>
          <p:nvPr/>
        </p:nvSpPr>
        <p:spPr>
          <a:xfrm>
            <a:off x="1417320" y="2057400"/>
            <a:ext cx="7132320" cy="7772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8 users: reward +4.2% and lower estimated delay than the equal-share baseline.</a:t>
            </a:r>
            <a:endParaRPr lang="en-US" sz="1600" dirty="0"/>
          </a:p>
        </p:txBody>
      </p:sp>
      <p:sp>
        <p:nvSpPr>
          <p:cNvPr id="11" name="Shape 7"/>
          <p:cNvSpPr/>
          <p:nvPr/>
        </p:nvSpPr>
        <p:spPr>
          <a:xfrm>
            <a:off x="457200" y="2971800"/>
            <a:ext cx="8229600" cy="777240"/>
          </a:xfrm>
          <a:prstGeom prst="roundRect">
            <a:avLst>
              <a:gd name="adj" fmla="val 11765"/>
            </a:avLst>
          </a:prstGeom>
          <a:solidFill>
            <a:srgbClr val="13315C"/>
          </a:solidFill>
          <a:ln w="12700">
            <a:solidFill>
              <a:srgbClr val="2A5A8C"/>
            </a:solidFill>
            <a:prstDash val="solid"/>
          </a:ln>
        </p:spPr>
      </p:sp>
      <p:sp>
        <p:nvSpPr>
          <p:cNvPr id="12" name="Shape 8"/>
          <p:cNvSpPr/>
          <p:nvPr/>
        </p:nvSpPr>
        <p:spPr>
          <a:xfrm>
            <a:off x="708660" y="3108960"/>
            <a:ext cx="502920" cy="502920"/>
          </a:xfrm>
          <a:prstGeom prst="ellipse">
            <a:avLst/>
          </a:prstGeom>
          <a:solidFill>
            <a:srgbClr val="13A89E"/>
          </a:solidFill>
          <a:ln w="12700">
            <a:solidFill>
              <a:srgbClr val="13A89E"/>
            </a:solidFill>
            <a:prstDash val="solid"/>
          </a:ln>
        </p:spPr>
      </p:sp>
      <p:pic>
        <p:nvPicPr>
          <p:cNvPr id="13" name="Image 2" descr="preencoded.png"/>
          <p:cNvPicPr>
            <a:picLocks noChangeAspect="1"/>
          </p:cNvPicPr>
          <p:nvPr/>
        </p:nvPicPr>
        <p:blipFill>
          <a:blip r:embed="rId5"/>
          <a:stretch>
            <a:fillRect/>
          </a:stretch>
        </p:blipFill>
        <p:spPr>
          <a:xfrm>
            <a:off x="834390" y="3234690"/>
            <a:ext cx="251460" cy="251460"/>
          </a:xfrm>
          <a:prstGeom prst="rect">
            <a:avLst/>
          </a:prstGeom>
        </p:spPr>
      </p:pic>
      <p:sp>
        <p:nvSpPr>
          <p:cNvPr id="14" name="Text 9"/>
          <p:cNvSpPr txBox="1"/>
          <p:nvPr/>
        </p:nvSpPr>
        <p:spPr>
          <a:xfrm>
            <a:off x="1417320" y="2971800"/>
            <a:ext cx="7132320" cy="7772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Next: improve priority satisfaction and add a real semantic model.</a:t>
            </a:r>
            <a:endParaRPr lang="en-US" sz="1600" dirty="0"/>
          </a:p>
        </p:txBody>
      </p:sp>
      <p:sp>
        <p:nvSpPr>
          <p:cNvPr id="15" name="Text 10"/>
          <p:cNvSpPr txBox="1"/>
          <p:nvPr/>
        </p:nvSpPr>
        <p:spPr>
          <a:xfrm>
            <a:off x="457200" y="3977640"/>
            <a:ext cx="4572000" cy="457200"/>
          </a:xfrm>
          <a:prstGeom prst="rect">
            <a:avLst/>
          </a:prstGeom>
          <a:noFill/>
          <a:ln/>
        </p:spPr>
        <p:txBody>
          <a:bodyPr wrap="square" lIns="0" tIns="0" rIns="0" bIns="0" rtlCol="0" anchor="ctr"/>
          <a:lstStyle/>
          <a:p>
            <a:pPr marL="0" indent="0">
              <a:buNone/>
            </a:pPr>
            <a:r>
              <a:rPr lang="en-US" sz="2600" b="1" dirty="0">
                <a:solidFill>
                  <a:srgbClr val="F5A524"/>
                </a:solidFill>
                <a:latin typeface="Calibri" pitchFamily="34" charset="0"/>
                <a:ea typeface="Calibri" pitchFamily="34" charset="-122"/>
                <a:cs typeface="Calibri" pitchFamily="34" charset="-120"/>
              </a:rPr>
              <a:t>Thank you  |  Questions?</a:t>
            </a:r>
            <a:endParaRPr lang="en-US" sz="2600" dirty="0"/>
          </a:p>
        </p:txBody>
      </p:sp>
      <p:sp>
        <p:nvSpPr>
          <p:cNvPr id="16" name="Text 11"/>
          <p:cNvSpPr txBox="1"/>
          <p:nvPr/>
        </p:nvSpPr>
        <p:spPr>
          <a:xfrm>
            <a:off x="457200" y="4434840"/>
            <a:ext cx="8229600" cy="274320"/>
          </a:xfrm>
          <a:prstGeom prst="rect">
            <a:avLst/>
          </a:prstGeom>
          <a:noFill/>
          <a:ln/>
        </p:spPr>
        <p:txBody>
          <a:bodyPr wrap="square" lIns="0" tIns="0" rIns="0" bIns="0" rtlCol="0" anchor="ctr"/>
          <a:lstStyle/>
          <a:p>
            <a:pPr marL="0" indent="0">
              <a:buNone/>
            </a:pPr>
            <a:r>
              <a:rPr lang="en-US" sz="1150" dirty="0">
                <a:solidFill>
                  <a:srgbClr val="9FC5E8"/>
                </a:solidFill>
                <a:latin typeface="Calibri" pitchFamily="34" charset="0"/>
                <a:ea typeface="Calibri" pitchFamily="34" charset="-122"/>
                <a:cs typeface="Calibri" pitchFamily="34" charset="-120"/>
              </a:rPr>
              <a:t>B. Sri Srujana (2520040005)  |  S. Tejitha (2520040008)  |  M. Gnaneshwari (2520040020)</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2101</Words>
  <Application>Microsoft Office PowerPoint</Application>
  <PresentationFormat>On-screen Show (16:9)</PresentationFormat>
  <Paragraphs>197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SAC Based Semantic-Aware Power &amp; Time Allocation - Hybrid NOMA &amp; OFDMA</dc:title>
  <dc:subject>PptxGenJS Presentation</dc:subject>
  <dc:creator>PptxGenJS</dc:creator>
  <cp:lastModifiedBy>Malla Rakshthi</cp:lastModifiedBy>
  <cp:revision>2</cp:revision>
  <dcterms:created xsi:type="dcterms:W3CDTF">2026-09-29T06:41:46Z</dcterms:created>
  <dcterms:modified xsi:type="dcterms:W3CDTF">2026-09-29T08:19:28Z</dcterms:modified>
</cp:coreProperties>
</file>